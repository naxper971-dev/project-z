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01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://B.tech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519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2103121" y="-2103121"/>
            <a:ext cx="4206242" cy="4206242"/>
          </a:xfrm>
          <a:prstGeom prst="ellipse">
            <a:avLst/>
          </a:prstGeom>
          <a:ln w="19050">
            <a:solidFill>
              <a:srgbClr val="44215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10424159" y="4937759"/>
            <a:ext cx="4206241" cy="4206241"/>
          </a:xfrm>
          <a:prstGeom prst="ellipse">
            <a:avLst/>
          </a:prstGeom>
          <a:ln w="19050">
            <a:solidFill>
              <a:srgbClr val="44215E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69671" y="412750"/>
            <a:ext cx="1280161" cy="128016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2"/>
          <p:cNvSpPr txBox="1"/>
          <p:nvPr/>
        </p:nvSpPr>
        <p:spPr>
          <a:xfrm>
            <a:off x="914399" y="1844039"/>
            <a:ext cx="10360154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Library Circulation &amp; Digital Resource</a:t>
            </a:r>
          </a:p>
          <a:p>
            <a:pPr algn="ctr">
              <a:defRPr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Management System</a:t>
            </a:r>
          </a:p>
        </p:txBody>
      </p:sp>
      <p:sp>
        <p:nvSpPr>
          <p:cNvPr id="24" name="Text 3"/>
          <p:cNvSpPr txBox="1"/>
          <p:nvPr/>
        </p:nvSpPr>
        <p:spPr>
          <a:xfrm>
            <a:off x="914399" y="3347283"/>
            <a:ext cx="10360154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600">
                <a:solidFill>
                  <a:srgbClr val="D4AF37"/>
                </a:solidFill>
              </a:defRPr>
            </a:lvl1pPr>
          </a:lstStyle>
          <a:p>
            <a:pPr/>
            <a:r>
              <a:t>A Relational Database Management System for Library Operations</a:t>
            </a:r>
          </a:p>
        </p:txBody>
      </p:sp>
      <p:sp>
        <p:nvSpPr>
          <p:cNvPr id="25" name="Text 4"/>
          <p:cNvSpPr txBox="1"/>
          <p:nvPr/>
        </p:nvSpPr>
        <p:spPr>
          <a:xfrm>
            <a:off x="914399" y="3985698"/>
            <a:ext cx="10360154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50" sz="1300">
                <a:solidFill>
                  <a:srgbClr val="D4AF37"/>
                </a:solidFill>
              </a:defRPr>
            </a:lvl1pPr>
          </a:lstStyle>
          <a:p>
            <a:pPr/>
            <a:r>
              <a:t>Review 1</a:t>
            </a:r>
          </a:p>
        </p:txBody>
      </p:sp>
      <p:sp>
        <p:nvSpPr>
          <p:cNvPr id="26" name="Text 5"/>
          <p:cNvSpPr txBox="1"/>
          <p:nvPr/>
        </p:nvSpPr>
        <p:spPr>
          <a:xfrm>
            <a:off x="914399" y="4404168"/>
            <a:ext cx="1036015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Problem Identification  ·  Literature Survey  ·  Project Planning &amp; SRS</a:t>
            </a:r>
          </a:p>
        </p:txBody>
      </p:sp>
      <p:sp>
        <p:nvSpPr>
          <p:cNvPr id="27" name="Shape 6"/>
          <p:cNvSpPr/>
          <p:nvPr/>
        </p:nvSpPr>
        <p:spPr>
          <a:xfrm>
            <a:off x="3803903" y="5166359"/>
            <a:ext cx="4572001" cy="914401"/>
          </a:xfrm>
          <a:prstGeom prst="roundRect">
            <a:avLst>
              <a:gd name="adj" fmla="val 8000"/>
            </a:avLst>
          </a:prstGeom>
          <a:solidFill>
            <a:srgbClr val="44215E"/>
          </a:solidFill>
          <a:ln w="12700">
            <a:solidFill>
              <a:srgbClr val="D4AF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7"/>
          <p:cNvSpPr txBox="1"/>
          <p:nvPr/>
        </p:nvSpPr>
        <p:spPr>
          <a:xfrm>
            <a:off x="3803903" y="5410008"/>
            <a:ext cx="4572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Himesh Sarvan S</a:t>
            </a:r>
          </a:p>
          <a:p>
            <a:pPr algn="ctr">
              <a:defRPr sz="1200">
                <a:solidFill>
                  <a:srgbClr val="E3D6EF"/>
                </a:solidFill>
              </a:defRPr>
            </a:pPr>
            <a:r>
              <a:rPr sz="1400"/>
              <a:t>25WU0102099</a:t>
            </a:r>
            <a:r>
              <a:t>   |  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B.tech</a:t>
            </a:r>
            <a:r>
              <a:t> AIML</a:t>
            </a:r>
          </a:p>
        </p:txBody>
      </p:sp>
      <p:sp>
        <p:nvSpPr>
          <p:cNvPr id="29" name="Text 8"/>
          <p:cNvSpPr txBox="1"/>
          <p:nvPr/>
        </p:nvSpPr>
        <p:spPr>
          <a:xfrm>
            <a:off x="914399" y="6447966"/>
            <a:ext cx="1036015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D4AF37"/>
                </a:solidFill>
              </a:defRPr>
            </a:lvl1pPr>
          </a:lstStyle>
          <a:p>
            <a:pPr/>
            <a:r>
              <a:t>Database Management Systems  —  Project-Based Learning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384047"/>
            <a:ext cx="777241" cy="777242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Text 0"/>
          <p:cNvSpPr txBox="1"/>
          <p:nvPr/>
        </p:nvSpPr>
        <p:spPr>
          <a:xfrm>
            <a:off x="1477278" y="551179"/>
            <a:ext cx="731515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35194F"/>
                </a:solidFill>
                <a:latin typeface="Cambria Bold"/>
                <a:ea typeface="Cambria Bold"/>
                <a:cs typeface="Cambria Bold"/>
                <a:sym typeface="Cambria Bold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33" name="Shape 1"/>
          <p:cNvSpPr/>
          <p:nvPr/>
        </p:nvSpPr>
        <p:spPr>
          <a:xfrm>
            <a:off x="640080" y="1600200"/>
            <a:ext cx="502921" cy="502921"/>
          </a:xfrm>
          <a:prstGeom prst="ellipse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2"/>
          <p:cNvSpPr txBox="1"/>
          <p:nvPr/>
        </p:nvSpPr>
        <p:spPr>
          <a:xfrm>
            <a:off x="640080" y="174370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5" name="Text 3"/>
          <p:cNvSpPr txBox="1"/>
          <p:nvPr/>
        </p:nvSpPr>
        <p:spPr>
          <a:xfrm>
            <a:off x="1325879" y="1630365"/>
            <a:ext cx="493776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35194F"/>
                </a:solidFill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36" name="Text 4"/>
          <p:cNvSpPr txBox="1"/>
          <p:nvPr/>
        </p:nvSpPr>
        <p:spPr>
          <a:xfrm>
            <a:off x="1303019" y="1881456"/>
            <a:ext cx="49377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E5F7D"/>
                </a:solidFill>
              </a:defRPr>
            </a:lvl1pPr>
          </a:lstStyle>
          <a:p>
            <a:pPr/>
            <a:r>
              <a:t>Why a unified library database is needed</a:t>
            </a:r>
          </a:p>
        </p:txBody>
      </p:sp>
      <p:sp>
        <p:nvSpPr>
          <p:cNvPr id="37" name="Shape 5"/>
          <p:cNvSpPr/>
          <p:nvPr/>
        </p:nvSpPr>
        <p:spPr>
          <a:xfrm>
            <a:off x="640080" y="2697479"/>
            <a:ext cx="502921" cy="502921"/>
          </a:xfrm>
          <a:prstGeom prst="ellipse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6"/>
          <p:cNvSpPr txBox="1"/>
          <p:nvPr/>
        </p:nvSpPr>
        <p:spPr>
          <a:xfrm>
            <a:off x="640080" y="284098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9" name="Text 7"/>
          <p:cNvSpPr txBox="1"/>
          <p:nvPr/>
        </p:nvSpPr>
        <p:spPr>
          <a:xfrm>
            <a:off x="1325879" y="2727646"/>
            <a:ext cx="49377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35194F"/>
                </a:solidFill>
              </a:defRPr>
            </a:lvl1pPr>
          </a:lstStyle>
          <a:p>
            <a:pPr/>
            <a:r>
              <a:t>Literature Survey</a:t>
            </a:r>
          </a:p>
        </p:txBody>
      </p:sp>
      <p:sp>
        <p:nvSpPr>
          <p:cNvPr id="40" name="Text 8"/>
          <p:cNvSpPr txBox="1"/>
          <p:nvPr/>
        </p:nvSpPr>
        <p:spPr>
          <a:xfrm>
            <a:off x="1280158" y="2987840"/>
            <a:ext cx="493776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E5F7D"/>
                </a:solidFill>
              </a:defRPr>
            </a:lvl1pPr>
          </a:lstStyle>
          <a:p>
            <a:pPr/>
            <a:r>
              <a:t>Manual, spreadsheet &amp; existing ILS approaches</a:t>
            </a:r>
          </a:p>
        </p:txBody>
      </p:sp>
      <p:sp>
        <p:nvSpPr>
          <p:cNvPr id="41" name="Shape 9"/>
          <p:cNvSpPr/>
          <p:nvPr/>
        </p:nvSpPr>
        <p:spPr>
          <a:xfrm>
            <a:off x="640080" y="3794759"/>
            <a:ext cx="502921" cy="502921"/>
          </a:xfrm>
          <a:prstGeom prst="ellipse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10"/>
          <p:cNvSpPr txBox="1"/>
          <p:nvPr/>
        </p:nvSpPr>
        <p:spPr>
          <a:xfrm>
            <a:off x="640080" y="3938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3" name="Text 11"/>
          <p:cNvSpPr txBox="1"/>
          <p:nvPr/>
        </p:nvSpPr>
        <p:spPr>
          <a:xfrm>
            <a:off x="1325879" y="3824926"/>
            <a:ext cx="49377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35194F"/>
                </a:solidFill>
              </a:defRPr>
            </a:lvl1pPr>
          </a:lstStyle>
          <a:p>
            <a:pPr/>
            <a:r>
              <a:t>Scope &amp; Objectives</a:t>
            </a:r>
          </a:p>
        </p:txBody>
      </p:sp>
      <p:sp>
        <p:nvSpPr>
          <p:cNvPr id="44" name="Text 12"/>
          <p:cNvSpPr txBox="1"/>
          <p:nvPr/>
        </p:nvSpPr>
        <p:spPr>
          <a:xfrm>
            <a:off x="1325879" y="4080002"/>
            <a:ext cx="493776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E5F7D"/>
                </a:solidFill>
              </a:defRPr>
            </a:lvl1pPr>
          </a:lstStyle>
          <a:p>
            <a:pPr/>
            <a:r>
              <a:t>What the system will cover and achieve</a:t>
            </a:r>
          </a:p>
        </p:txBody>
      </p:sp>
      <p:sp>
        <p:nvSpPr>
          <p:cNvPr id="45" name="Shape 13"/>
          <p:cNvSpPr/>
          <p:nvPr/>
        </p:nvSpPr>
        <p:spPr>
          <a:xfrm>
            <a:off x="640080" y="4892040"/>
            <a:ext cx="502921" cy="502921"/>
          </a:xfrm>
          <a:prstGeom prst="ellipse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4"/>
          <p:cNvSpPr txBox="1"/>
          <p:nvPr/>
        </p:nvSpPr>
        <p:spPr>
          <a:xfrm>
            <a:off x="640080" y="503554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7" name="Text 15"/>
          <p:cNvSpPr txBox="1"/>
          <p:nvPr/>
        </p:nvSpPr>
        <p:spPr>
          <a:xfrm>
            <a:off x="1325879" y="4922206"/>
            <a:ext cx="49377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35194F"/>
                </a:solidFill>
              </a:defRPr>
            </a:lvl1pPr>
          </a:lstStyle>
          <a:p>
            <a:pPr/>
            <a:r>
              <a:t>Stakeholders &amp; Roles</a:t>
            </a:r>
          </a:p>
        </p:txBody>
      </p:sp>
      <p:sp>
        <p:nvSpPr>
          <p:cNvPr id="48" name="Text 16"/>
          <p:cNvSpPr txBox="1"/>
          <p:nvPr/>
        </p:nvSpPr>
        <p:spPr>
          <a:xfrm>
            <a:off x="1280159" y="5152369"/>
            <a:ext cx="49377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E5F7D"/>
                </a:solidFill>
              </a:defRPr>
            </a:lvl1pPr>
          </a:lstStyle>
          <a:p>
            <a:pPr/>
            <a:r>
              <a:t>Librarian, member and admin perspectives</a:t>
            </a:r>
          </a:p>
        </p:txBody>
      </p:sp>
      <p:sp>
        <p:nvSpPr>
          <p:cNvPr id="49" name="Shape 17"/>
          <p:cNvSpPr/>
          <p:nvPr/>
        </p:nvSpPr>
        <p:spPr>
          <a:xfrm>
            <a:off x="6400800" y="1600200"/>
            <a:ext cx="502921" cy="502921"/>
          </a:xfrm>
          <a:prstGeom prst="ellipse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18"/>
          <p:cNvSpPr txBox="1"/>
          <p:nvPr/>
        </p:nvSpPr>
        <p:spPr>
          <a:xfrm>
            <a:off x="6400800" y="174370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51" name="Text 19"/>
          <p:cNvSpPr txBox="1"/>
          <p:nvPr/>
        </p:nvSpPr>
        <p:spPr>
          <a:xfrm>
            <a:off x="7086600" y="1630365"/>
            <a:ext cx="493776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35194F"/>
                </a:solidFill>
              </a:defRPr>
            </a:lvl1pPr>
          </a:lstStyle>
          <a:p>
            <a:pPr/>
            <a:r>
              <a:t>Functional Requirements</a:t>
            </a:r>
          </a:p>
        </p:txBody>
      </p:sp>
      <p:sp>
        <p:nvSpPr>
          <p:cNvPr id="52" name="Text 20"/>
          <p:cNvSpPr txBox="1"/>
          <p:nvPr/>
        </p:nvSpPr>
        <p:spPr>
          <a:xfrm>
            <a:off x="7086600" y="1881456"/>
            <a:ext cx="49377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E5F7D"/>
                </a:solidFill>
              </a:defRPr>
            </a:lvl1pPr>
          </a:lstStyle>
          <a:p>
            <a:pPr/>
            <a:r>
              <a:t>Catalogue, circulation, reservations, fines</a:t>
            </a:r>
          </a:p>
        </p:txBody>
      </p:sp>
      <p:sp>
        <p:nvSpPr>
          <p:cNvPr id="53" name="Shape 21"/>
          <p:cNvSpPr/>
          <p:nvPr/>
        </p:nvSpPr>
        <p:spPr>
          <a:xfrm>
            <a:off x="6400800" y="2697479"/>
            <a:ext cx="502921" cy="502921"/>
          </a:xfrm>
          <a:prstGeom prst="ellipse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22"/>
          <p:cNvSpPr txBox="1"/>
          <p:nvPr/>
        </p:nvSpPr>
        <p:spPr>
          <a:xfrm>
            <a:off x="6400800" y="284098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55" name="Text 23"/>
          <p:cNvSpPr txBox="1"/>
          <p:nvPr/>
        </p:nvSpPr>
        <p:spPr>
          <a:xfrm>
            <a:off x="7086600" y="2727646"/>
            <a:ext cx="49377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35194F"/>
                </a:solidFill>
              </a:defRPr>
            </a:lvl1pPr>
          </a:lstStyle>
          <a:p>
            <a:pPr/>
            <a:r>
              <a:t>Non-Functional Reqs &amp; Stack</a:t>
            </a:r>
          </a:p>
        </p:txBody>
      </p:sp>
      <p:sp>
        <p:nvSpPr>
          <p:cNvPr id="56" name="Text 24"/>
          <p:cNvSpPr txBox="1"/>
          <p:nvPr/>
        </p:nvSpPr>
        <p:spPr>
          <a:xfrm>
            <a:off x="7086600" y="2939600"/>
            <a:ext cx="49377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E5F7D"/>
                </a:solidFill>
              </a:defRPr>
            </a:lvl1pPr>
          </a:lstStyle>
          <a:p>
            <a:pPr/>
            <a:r>
              <a:t>Integrity, performance, proposed tools</a:t>
            </a:r>
          </a:p>
        </p:txBody>
      </p:sp>
      <p:sp>
        <p:nvSpPr>
          <p:cNvPr id="57" name="Shape 25"/>
          <p:cNvSpPr/>
          <p:nvPr/>
        </p:nvSpPr>
        <p:spPr>
          <a:xfrm>
            <a:off x="6400800" y="3794759"/>
            <a:ext cx="502921" cy="502921"/>
          </a:xfrm>
          <a:prstGeom prst="ellipse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26"/>
          <p:cNvSpPr txBox="1"/>
          <p:nvPr/>
        </p:nvSpPr>
        <p:spPr>
          <a:xfrm>
            <a:off x="6400800" y="393826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59" name="Text 27"/>
          <p:cNvSpPr txBox="1"/>
          <p:nvPr/>
        </p:nvSpPr>
        <p:spPr>
          <a:xfrm>
            <a:off x="7086600" y="3824926"/>
            <a:ext cx="49377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35194F"/>
                </a:solidFill>
              </a:defRPr>
            </a:lvl1pPr>
          </a:lstStyle>
          <a:p>
            <a:pPr/>
            <a:r>
              <a:t>ER Diagram</a:t>
            </a:r>
          </a:p>
        </p:txBody>
      </p:sp>
      <p:sp>
        <p:nvSpPr>
          <p:cNvPr id="60" name="Text 28"/>
          <p:cNvSpPr txBox="1"/>
          <p:nvPr/>
        </p:nvSpPr>
        <p:spPr>
          <a:xfrm>
            <a:off x="7040879" y="4080002"/>
            <a:ext cx="493776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E5F7D"/>
                </a:solidFill>
              </a:defRPr>
            </a:lvl1pPr>
          </a:lstStyle>
          <a:p>
            <a:pPr/>
            <a:r>
              <a:t>Conceptual entities &amp; key relationships</a:t>
            </a:r>
          </a:p>
        </p:txBody>
      </p:sp>
      <p:sp>
        <p:nvSpPr>
          <p:cNvPr id="61" name="Shape 29"/>
          <p:cNvSpPr/>
          <p:nvPr/>
        </p:nvSpPr>
        <p:spPr>
          <a:xfrm>
            <a:off x="6400800" y="4892040"/>
            <a:ext cx="502921" cy="502921"/>
          </a:xfrm>
          <a:prstGeom prst="ellipse">
            <a:avLst/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30"/>
          <p:cNvSpPr txBox="1"/>
          <p:nvPr/>
        </p:nvSpPr>
        <p:spPr>
          <a:xfrm>
            <a:off x="6400800" y="5035549"/>
            <a:ext cx="50292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63" name="Text 31"/>
          <p:cNvSpPr txBox="1"/>
          <p:nvPr/>
        </p:nvSpPr>
        <p:spPr>
          <a:xfrm>
            <a:off x="7086600" y="4922206"/>
            <a:ext cx="49377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35194F"/>
                </a:solidFill>
              </a:defRPr>
            </a:lvl1pPr>
          </a:lstStyle>
          <a:p>
            <a:pPr/>
            <a:r>
              <a:t>Initial Schema &amp; Timeline</a:t>
            </a:r>
          </a:p>
        </p:txBody>
      </p:sp>
      <p:sp>
        <p:nvSpPr>
          <p:cNvPr id="64" name="Text 32"/>
          <p:cNvSpPr txBox="1"/>
          <p:nvPr/>
        </p:nvSpPr>
        <p:spPr>
          <a:xfrm>
            <a:off x="7086600" y="5220406"/>
            <a:ext cx="49377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E5F7D"/>
                </a:solidFill>
              </a:defRPr>
            </a:lvl1pPr>
          </a:lstStyle>
          <a:p>
            <a:pPr/>
            <a:r>
              <a:t>Draft tables and the 16-week plan</a:t>
            </a:r>
          </a:p>
        </p:txBody>
      </p:sp>
      <p:sp>
        <p:nvSpPr>
          <p:cNvPr id="65" name="Text 33"/>
          <p:cNvSpPr txBox="1"/>
          <p:nvPr/>
        </p:nvSpPr>
        <p:spPr>
          <a:xfrm>
            <a:off x="457200" y="6611619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DBMS Project-Based Learning  ·  Project 02  ·  Review 1</a:t>
            </a:r>
          </a:p>
        </p:txBody>
      </p:sp>
      <p:sp>
        <p:nvSpPr>
          <p:cNvPr id="66" name="Text 34"/>
          <p:cNvSpPr txBox="1"/>
          <p:nvPr/>
        </p:nvSpPr>
        <p:spPr>
          <a:xfrm>
            <a:off x="11457431" y="6611619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0615" y="927168"/>
            <a:ext cx="777241" cy="777241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Text 0"/>
          <p:cNvSpPr txBox="1"/>
          <p:nvPr/>
        </p:nvSpPr>
        <p:spPr>
          <a:xfrm>
            <a:off x="1066800" y="1112588"/>
            <a:ext cx="100584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70" name="Text 1"/>
          <p:cNvSpPr txBox="1"/>
          <p:nvPr/>
        </p:nvSpPr>
        <p:spPr>
          <a:xfrm>
            <a:off x="548639" y="2243891"/>
            <a:ext cx="6720842" cy="3101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2200"/>
              </a:spcBef>
              <a:buSzPct val="100000"/>
              <a:buChar char="•"/>
              <a:defRPr sz="1600">
                <a:solidFill>
                  <a:srgbClr val="241536"/>
                </a:solidFill>
              </a:defRPr>
            </a:pPr>
            <a:r>
              <a:t>Printed books, digital resources, members, circulation, reservations and fines are recorded in separate manual registers.</a:t>
            </a:r>
          </a:p>
          <a:p>
            <a:pPr marL="342900" indent="-342900">
              <a:lnSpc>
                <a:spcPct val="120000"/>
              </a:lnSpc>
              <a:spcBef>
                <a:spcPts val="2200"/>
              </a:spcBef>
              <a:buSzPct val="100000"/>
              <a:buChar char="•"/>
              <a:defRPr sz="1600">
                <a:solidFill>
                  <a:srgbClr val="241536"/>
                </a:solidFill>
              </a:defRPr>
            </a:pPr>
            <a:r>
              <a:t>No single, real-time view of which titles or copies are actually available.</a:t>
            </a:r>
          </a:p>
          <a:p>
            <a:pPr marL="342900" indent="-342900">
              <a:lnSpc>
                <a:spcPct val="120000"/>
              </a:lnSpc>
              <a:spcBef>
                <a:spcPts val="2200"/>
              </a:spcBef>
              <a:buSzPct val="100000"/>
              <a:buChar char="•"/>
              <a:defRPr sz="1600">
                <a:solidFill>
                  <a:srgbClr val="241536"/>
                </a:solidFill>
              </a:defRPr>
            </a:pPr>
            <a:r>
              <a:t>Overdue detection and fine calculation are slow, inconsistent and error-prone.</a:t>
            </a:r>
          </a:p>
          <a:p>
            <a:pPr marL="342900" indent="-342900">
              <a:lnSpc>
                <a:spcPct val="120000"/>
              </a:lnSpc>
              <a:spcBef>
                <a:spcPts val="2200"/>
              </a:spcBef>
              <a:buSzPct val="100000"/>
              <a:buChar char="•"/>
              <a:defRPr sz="1600">
                <a:solidFill>
                  <a:srgbClr val="241536"/>
                </a:solidFill>
              </a:defRPr>
            </a:pPr>
            <a:r>
              <a:t>Digital-resource access is not linked to member or circulation history.</a:t>
            </a:r>
          </a:p>
          <a:p>
            <a:pPr marL="342900" indent="-342900">
              <a:lnSpc>
                <a:spcPct val="120000"/>
              </a:lnSpc>
              <a:spcBef>
                <a:spcPts val="2200"/>
              </a:spcBef>
              <a:buSzPct val="100000"/>
              <a:buChar char="•"/>
              <a:defRPr sz="1600">
                <a:solidFill>
                  <a:srgbClr val="241536"/>
                </a:solidFill>
              </a:defRPr>
            </a:pPr>
            <a:r>
              <a:t>Reservation requests are handled informally, with no defined queue order.</a:t>
            </a:r>
          </a:p>
        </p:txBody>
      </p:sp>
      <p:sp>
        <p:nvSpPr>
          <p:cNvPr id="71" name="Shape 2"/>
          <p:cNvSpPr/>
          <p:nvPr/>
        </p:nvSpPr>
        <p:spPr>
          <a:xfrm>
            <a:off x="7649478" y="1457033"/>
            <a:ext cx="3108136" cy="3943934"/>
          </a:xfrm>
          <a:prstGeom prst="roundRect">
            <a:avLst>
              <a:gd name="adj" fmla="val 1766"/>
            </a:avLst>
          </a:prstGeom>
          <a:solidFill>
            <a:srgbClr val="F3EFF8"/>
          </a:solidFill>
          <a:ln w="12700">
            <a:solidFill>
              <a:srgbClr val="35194F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" name="Text 3"/>
          <p:cNvSpPr txBox="1"/>
          <p:nvPr/>
        </p:nvSpPr>
        <p:spPr>
          <a:xfrm>
            <a:off x="7818119" y="1838959"/>
            <a:ext cx="36576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It Matters</a:t>
            </a:r>
          </a:p>
        </p:txBody>
      </p:sp>
      <p:sp>
        <p:nvSpPr>
          <p:cNvPr id="73" name="Shape 4"/>
          <p:cNvSpPr/>
          <p:nvPr/>
        </p:nvSpPr>
        <p:spPr>
          <a:xfrm>
            <a:off x="7818119" y="2423160"/>
            <a:ext cx="146305" cy="146305"/>
          </a:xfrm>
          <a:prstGeom prst="ellipse">
            <a:avLst/>
          </a:prstGeom>
          <a:solidFill>
            <a:srgbClr val="0E83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5"/>
          <p:cNvSpPr txBox="1"/>
          <p:nvPr/>
        </p:nvSpPr>
        <p:spPr>
          <a:xfrm>
            <a:off x="8092440" y="2412931"/>
            <a:ext cx="34290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241536"/>
                </a:solidFill>
              </a:defRPr>
            </a:lvl1pPr>
          </a:lstStyle>
          <a:p>
            <a:pPr/>
            <a:r>
              <a:t>Lost or duplicated records</a:t>
            </a:r>
          </a:p>
        </p:txBody>
      </p:sp>
      <p:sp>
        <p:nvSpPr>
          <p:cNvPr id="75" name="Shape 6"/>
          <p:cNvSpPr/>
          <p:nvPr/>
        </p:nvSpPr>
        <p:spPr>
          <a:xfrm>
            <a:off x="7818119" y="3291840"/>
            <a:ext cx="146305" cy="146305"/>
          </a:xfrm>
          <a:prstGeom prst="ellipse">
            <a:avLst/>
          </a:prstGeom>
          <a:solidFill>
            <a:srgbClr val="0E83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7"/>
          <p:cNvSpPr txBox="1"/>
          <p:nvPr/>
        </p:nvSpPr>
        <p:spPr>
          <a:xfrm>
            <a:off x="8092440" y="3281611"/>
            <a:ext cx="34290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241536"/>
                </a:solidFill>
              </a:defRPr>
            </a:lvl1pPr>
          </a:lstStyle>
          <a:p>
            <a:pPr/>
            <a:r>
              <a:t>Delayed overdue detection</a:t>
            </a:r>
          </a:p>
        </p:txBody>
      </p:sp>
      <p:sp>
        <p:nvSpPr>
          <p:cNvPr id="77" name="Shape 8"/>
          <p:cNvSpPr/>
          <p:nvPr/>
        </p:nvSpPr>
        <p:spPr>
          <a:xfrm>
            <a:off x="7818119" y="4160520"/>
            <a:ext cx="146305" cy="146305"/>
          </a:xfrm>
          <a:prstGeom prst="ellipse">
            <a:avLst/>
          </a:prstGeom>
          <a:solidFill>
            <a:srgbClr val="0E83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Text 9"/>
          <p:cNvSpPr txBox="1"/>
          <p:nvPr/>
        </p:nvSpPr>
        <p:spPr>
          <a:xfrm>
            <a:off x="8092440" y="4150291"/>
            <a:ext cx="34290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241536"/>
                </a:solidFill>
              </a:defRPr>
            </a:lvl1pPr>
          </a:lstStyle>
          <a:p>
            <a:pPr/>
            <a:r>
              <a:t>Inequitable reservation handling</a:t>
            </a:r>
          </a:p>
        </p:txBody>
      </p:sp>
      <p:sp>
        <p:nvSpPr>
          <p:cNvPr id="79" name="Shape 10"/>
          <p:cNvSpPr/>
          <p:nvPr/>
        </p:nvSpPr>
        <p:spPr>
          <a:xfrm>
            <a:off x="7818119" y="5029200"/>
            <a:ext cx="146305" cy="146305"/>
          </a:xfrm>
          <a:prstGeom prst="ellipse">
            <a:avLst/>
          </a:prstGeom>
          <a:solidFill>
            <a:srgbClr val="0E83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1"/>
          <p:cNvSpPr txBox="1"/>
          <p:nvPr/>
        </p:nvSpPr>
        <p:spPr>
          <a:xfrm>
            <a:off x="8092440" y="5018971"/>
            <a:ext cx="34290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241536"/>
                </a:solidFill>
              </a:defRPr>
            </a:lvl1pPr>
          </a:lstStyle>
          <a:p>
            <a:pPr/>
            <a:r>
              <a:t>Unreliable planning reports</a:t>
            </a:r>
          </a:p>
        </p:txBody>
      </p:sp>
      <p:sp>
        <p:nvSpPr>
          <p:cNvPr id="81" name="Text 12"/>
          <p:cNvSpPr txBox="1"/>
          <p:nvPr/>
        </p:nvSpPr>
        <p:spPr>
          <a:xfrm>
            <a:off x="457200" y="6611619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DBMS Project-Based Learning  ·  Project 02  ·  Review 1</a:t>
            </a:r>
          </a:p>
        </p:txBody>
      </p:sp>
      <p:sp>
        <p:nvSpPr>
          <p:cNvPr id="82" name="Text 13"/>
          <p:cNvSpPr txBox="1"/>
          <p:nvPr/>
        </p:nvSpPr>
        <p:spPr>
          <a:xfrm>
            <a:off x="11457431" y="6611619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384047"/>
            <a:ext cx="777241" cy="777242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 0"/>
          <p:cNvSpPr txBox="1"/>
          <p:nvPr/>
        </p:nvSpPr>
        <p:spPr>
          <a:xfrm>
            <a:off x="1371600" y="551179"/>
            <a:ext cx="100584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Literature Survey</a:t>
            </a:r>
          </a:p>
        </p:txBody>
      </p:sp>
      <p:sp>
        <p:nvSpPr>
          <p:cNvPr id="86" name="Shape 1"/>
          <p:cNvSpPr/>
          <p:nvPr/>
        </p:nvSpPr>
        <p:spPr>
          <a:xfrm>
            <a:off x="548640" y="1554480"/>
            <a:ext cx="3611880" cy="3246121"/>
          </a:xfrm>
          <a:prstGeom prst="roundRect">
            <a:avLst>
              <a:gd name="adj" fmla="val 1690"/>
            </a:avLst>
          </a:prstGeom>
          <a:solidFill>
            <a:srgbClr val="F3EFF8"/>
          </a:solidFill>
          <a:ln w="12700">
            <a:solidFill>
              <a:srgbClr val="DFD4EA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" name="Text 2"/>
          <p:cNvSpPr txBox="1"/>
          <p:nvPr/>
        </p:nvSpPr>
        <p:spPr>
          <a:xfrm>
            <a:off x="777239" y="1783079"/>
            <a:ext cx="31546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Manual Register-Based Systems</a:t>
            </a:r>
          </a:p>
        </p:txBody>
      </p:sp>
      <p:sp>
        <p:nvSpPr>
          <p:cNvPr id="88" name="Text 3"/>
          <p:cNvSpPr txBox="1"/>
          <p:nvPr/>
        </p:nvSpPr>
        <p:spPr>
          <a:xfrm>
            <a:off x="777239" y="2560320"/>
            <a:ext cx="315468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41536"/>
                </a:solidFill>
              </a:defRPr>
            </a:lvl1pPr>
          </a:lstStyle>
          <a:p>
            <a:pPr/>
            <a:r>
              <a:t>Paper ledgers record catalogue, issue/return and fine entries by hand.</a:t>
            </a:r>
          </a:p>
        </p:txBody>
      </p:sp>
      <p:sp>
        <p:nvSpPr>
          <p:cNvPr id="89" name="Text 4"/>
          <p:cNvSpPr txBox="1"/>
          <p:nvPr/>
        </p:nvSpPr>
        <p:spPr>
          <a:xfrm>
            <a:off x="777239" y="3566159"/>
            <a:ext cx="3154682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0E8388"/>
                </a:solidFill>
              </a:defRPr>
            </a:pPr>
            <a:r>
              <a:t>Limitation:  </a:t>
            </a:r>
            <a:r>
              <a:rPr b="0">
                <a:solidFill>
                  <a:srgbClr val="241536"/>
                </a:solidFill>
              </a:rPr>
              <a:t>No real-time availability status; slow and error-prone overdue tracking.</a:t>
            </a:r>
          </a:p>
        </p:txBody>
      </p:sp>
      <p:sp>
        <p:nvSpPr>
          <p:cNvPr id="90" name="Shape 5"/>
          <p:cNvSpPr/>
          <p:nvPr/>
        </p:nvSpPr>
        <p:spPr>
          <a:xfrm>
            <a:off x="4379976" y="1554480"/>
            <a:ext cx="3611880" cy="3246121"/>
          </a:xfrm>
          <a:prstGeom prst="roundRect">
            <a:avLst>
              <a:gd name="adj" fmla="val 1690"/>
            </a:avLst>
          </a:prstGeom>
          <a:solidFill>
            <a:srgbClr val="F3EFF8"/>
          </a:solidFill>
          <a:ln w="12700">
            <a:solidFill>
              <a:srgbClr val="DFD4EA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" name="Text 6"/>
          <p:cNvSpPr txBox="1"/>
          <p:nvPr/>
        </p:nvSpPr>
        <p:spPr>
          <a:xfrm>
            <a:off x="4608576" y="1783079"/>
            <a:ext cx="31546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Spreadsheet-Based Tracking</a:t>
            </a:r>
          </a:p>
        </p:txBody>
      </p:sp>
      <p:sp>
        <p:nvSpPr>
          <p:cNvPr id="92" name="Text 7"/>
          <p:cNvSpPr txBox="1"/>
          <p:nvPr/>
        </p:nvSpPr>
        <p:spPr>
          <a:xfrm>
            <a:off x="4608576" y="2560320"/>
            <a:ext cx="315468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41536"/>
                </a:solidFill>
              </a:defRPr>
            </a:lvl1pPr>
          </a:lstStyle>
          <a:p>
            <a:pPr/>
            <a:r>
              <a:t>Excel or Google Sheets used for catalogue lists and member records.</a:t>
            </a:r>
          </a:p>
        </p:txBody>
      </p:sp>
      <p:sp>
        <p:nvSpPr>
          <p:cNvPr id="93" name="Text 8"/>
          <p:cNvSpPr txBox="1"/>
          <p:nvPr/>
        </p:nvSpPr>
        <p:spPr>
          <a:xfrm>
            <a:off x="4608576" y="3566159"/>
            <a:ext cx="315468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0E8388"/>
                </a:solidFill>
              </a:defRPr>
            </a:pPr>
            <a:r>
              <a:t>Limitation:  </a:t>
            </a:r>
            <a:r>
              <a:rPr b="0">
                <a:solidFill>
                  <a:srgbClr val="241536"/>
                </a:solidFill>
              </a:rPr>
              <a:t>No referential integrity; breaks down under concurrent multi-user access.</a:t>
            </a:r>
          </a:p>
        </p:txBody>
      </p:sp>
      <p:sp>
        <p:nvSpPr>
          <p:cNvPr id="94" name="Shape 9"/>
          <p:cNvSpPr/>
          <p:nvPr/>
        </p:nvSpPr>
        <p:spPr>
          <a:xfrm>
            <a:off x="8211311" y="1554480"/>
            <a:ext cx="3611881" cy="3246121"/>
          </a:xfrm>
          <a:prstGeom prst="roundRect">
            <a:avLst>
              <a:gd name="adj" fmla="val 1690"/>
            </a:avLst>
          </a:prstGeom>
          <a:solidFill>
            <a:srgbClr val="F3EFF8"/>
          </a:solidFill>
          <a:ln w="12700">
            <a:solidFill>
              <a:srgbClr val="DFD4EA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" name="Text 10"/>
          <p:cNvSpPr txBox="1"/>
          <p:nvPr/>
        </p:nvSpPr>
        <p:spPr>
          <a:xfrm>
            <a:off x="8439911" y="1783079"/>
            <a:ext cx="31546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Existing Library Automation Software</a:t>
            </a:r>
          </a:p>
        </p:txBody>
      </p:sp>
      <p:sp>
        <p:nvSpPr>
          <p:cNvPr id="96" name="Text 11"/>
          <p:cNvSpPr txBox="1"/>
          <p:nvPr/>
        </p:nvSpPr>
        <p:spPr>
          <a:xfrm>
            <a:off x="8439911" y="2560320"/>
            <a:ext cx="315468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241536"/>
                </a:solidFill>
              </a:defRPr>
            </a:lvl1pPr>
          </a:lstStyle>
          <a:p>
            <a:pPr/>
            <a:r>
              <a:t>Feature-rich, generic Integrated Library Systems (ILS) available off-the-shelf.</a:t>
            </a:r>
          </a:p>
        </p:txBody>
      </p:sp>
      <p:sp>
        <p:nvSpPr>
          <p:cNvPr id="97" name="Text 12"/>
          <p:cNvSpPr txBox="1"/>
          <p:nvPr/>
        </p:nvSpPr>
        <p:spPr>
          <a:xfrm>
            <a:off x="8439911" y="3566159"/>
            <a:ext cx="3154682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0E8388"/>
                </a:solidFill>
              </a:defRPr>
            </a:pPr>
            <a:r>
              <a:t>Limitation:  </a:t>
            </a:r>
            <a:r>
              <a:rPr b="0">
                <a:solidFill>
                  <a:srgbClr val="241536"/>
                </a:solidFill>
              </a:rPr>
              <a:t>Heavy and generic — difficult to customise to specific circulation rules.</a:t>
            </a:r>
          </a:p>
        </p:txBody>
      </p:sp>
      <p:sp>
        <p:nvSpPr>
          <p:cNvPr id="98" name="Shape 13"/>
          <p:cNvSpPr/>
          <p:nvPr/>
        </p:nvSpPr>
        <p:spPr>
          <a:xfrm>
            <a:off x="548640" y="5029200"/>
            <a:ext cx="11091672" cy="1097281"/>
          </a:xfrm>
          <a:prstGeom prst="roundRect">
            <a:avLst>
              <a:gd name="adj" fmla="val 5000"/>
            </a:avLst>
          </a:prstGeom>
          <a:solidFill>
            <a:srgbClr val="35194F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9" name="Text 14"/>
          <p:cNvSpPr txBox="1"/>
          <p:nvPr/>
        </p:nvSpPr>
        <p:spPr>
          <a:xfrm>
            <a:off x="822960" y="5392859"/>
            <a:ext cx="10515601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D4AF37"/>
                </a:solidFill>
              </a:defRPr>
            </a:pPr>
            <a:r>
              <a:t>Research Gap:  </a:t>
            </a:r>
            <a:r>
              <a:rPr b="0">
                <a:solidFill>
                  <a:srgbClr val="FFFFFF"/>
                </a:solidFill>
              </a:rPr>
              <a:t>a right-sized, normalized relational database with enforced business rules and a lightweight Java/Python front end — tailored to this library's circulation and digital-access needs.</a:t>
            </a:r>
          </a:p>
        </p:txBody>
      </p:sp>
      <p:sp>
        <p:nvSpPr>
          <p:cNvPr id="100" name="Text 15"/>
          <p:cNvSpPr txBox="1"/>
          <p:nvPr/>
        </p:nvSpPr>
        <p:spPr>
          <a:xfrm>
            <a:off x="457200" y="6611619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DBMS Project-Based Learning  ·  Project 02  ·  Review 1</a:t>
            </a:r>
          </a:p>
        </p:txBody>
      </p:sp>
      <p:sp>
        <p:nvSpPr>
          <p:cNvPr id="101" name="Text 16"/>
          <p:cNvSpPr txBox="1"/>
          <p:nvPr/>
        </p:nvSpPr>
        <p:spPr>
          <a:xfrm>
            <a:off x="11457431" y="6611619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384047"/>
            <a:ext cx="777241" cy="777242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 0"/>
          <p:cNvSpPr txBox="1"/>
          <p:nvPr/>
        </p:nvSpPr>
        <p:spPr>
          <a:xfrm>
            <a:off x="1371600" y="551179"/>
            <a:ext cx="100584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Scope &amp; Objectives</a:t>
            </a:r>
          </a:p>
        </p:txBody>
      </p:sp>
      <p:sp>
        <p:nvSpPr>
          <p:cNvPr id="105" name="Shape 1"/>
          <p:cNvSpPr/>
          <p:nvPr/>
        </p:nvSpPr>
        <p:spPr>
          <a:xfrm>
            <a:off x="548640" y="1554480"/>
            <a:ext cx="5349241" cy="4526280"/>
          </a:xfrm>
          <a:prstGeom prst="roundRect">
            <a:avLst>
              <a:gd name="adj" fmla="val 1212"/>
            </a:avLst>
          </a:prstGeom>
          <a:solidFill>
            <a:srgbClr val="F3EFF8"/>
          </a:solidFill>
          <a:ln w="12700">
            <a:solidFill>
              <a:srgbClr val="35194F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" name="Text 2"/>
          <p:cNvSpPr txBox="1"/>
          <p:nvPr/>
        </p:nvSpPr>
        <p:spPr>
          <a:xfrm>
            <a:off x="822960" y="1826260"/>
            <a:ext cx="475488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9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Scope</a:t>
            </a:r>
          </a:p>
        </p:txBody>
      </p:sp>
      <p:sp>
        <p:nvSpPr>
          <p:cNvPr id="107" name="Text 3"/>
          <p:cNvSpPr txBox="1"/>
          <p:nvPr/>
        </p:nvSpPr>
        <p:spPr>
          <a:xfrm>
            <a:off x="822960" y="2286000"/>
            <a:ext cx="4754880" cy="2147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241536"/>
                </a:solidFill>
              </a:defRPr>
            </a:pPr>
            <a:r>
              <a:t>Catalogue: books, editions, authors, publishers, categories, copies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241536"/>
                </a:solidFill>
              </a:defRPr>
            </a:pPr>
            <a:r>
              <a:t>Member registration &amp; profile management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241536"/>
                </a:solidFill>
              </a:defRPr>
            </a:pPr>
            <a:r>
              <a:t>Circulation: issue, return and reservation handling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241536"/>
                </a:solidFill>
              </a:defRPr>
            </a:pPr>
            <a:r>
              <a:t>Fine calculation &amp; collection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241536"/>
                </a:solidFill>
              </a:defRPr>
            </a:pPr>
            <a:r>
              <a:t>Digital resource access logging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241536"/>
                </a:solidFill>
              </a:defRPr>
            </a:pPr>
            <a:r>
              <a:t>Reporting: overdues, popular titles, member history, fine collection</a:t>
            </a:r>
          </a:p>
        </p:txBody>
      </p:sp>
      <p:sp>
        <p:nvSpPr>
          <p:cNvPr id="108" name="Shape 4"/>
          <p:cNvSpPr/>
          <p:nvPr/>
        </p:nvSpPr>
        <p:spPr>
          <a:xfrm>
            <a:off x="6263640" y="1554480"/>
            <a:ext cx="5349241" cy="4526280"/>
          </a:xfrm>
          <a:prstGeom prst="roundRect">
            <a:avLst>
              <a:gd name="adj" fmla="val 1212"/>
            </a:avLst>
          </a:prstGeom>
          <a:solidFill>
            <a:srgbClr val="35194F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" name="Text 5"/>
          <p:cNvSpPr txBox="1"/>
          <p:nvPr/>
        </p:nvSpPr>
        <p:spPr>
          <a:xfrm>
            <a:off x="6537959" y="1826260"/>
            <a:ext cx="475488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900">
                <a:solidFill>
                  <a:srgbClr val="D4AF3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Objectives</a:t>
            </a:r>
          </a:p>
        </p:txBody>
      </p:sp>
      <p:sp>
        <p:nvSpPr>
          <p:cNvPr id="110" name="Text 6"/>
          <p:cNvSpPr txBox="1"/>
          <p:nvPr/>
        </p:nvSpPr>
        <p:spPr>
          <a:xfrm>
            <a:off x="6537959" y="2686620"/>
            <a:ext cx="4754881" cy="2856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2200"/>
              </a:spcBef>
              <a:buSzPct val="100000"/>
              <a:buChar char="•"/>
              <a:defRPr sz="1400">
                <a:solidFill>
                  <a:srgbClr val="FFFFFF"/>
                </a:solidFill>
              </a:defRPr>
            </a:pPr>
            <a:r>
              <a:t>Design a normalized (3NF) relational schema with full integrity constraints</a:t>
            </a:r>
          </a:p>
          <a:p>
            <a:pPr marL="342900" indent="-342900">
              <a:spcBef>
                <a:spcPts val="2200"/>
              </a:spcBef>
              <a:buSzPct val="100000"/>
              <a:buChar char="•"/>
              <a:defRPr sz="1400">
                <a:solidFill>
                  <a:srgbClr val="FFFFFF"/>
                </a:solidFill>
              </a:defRPr>
            </a:pPr>
            <a:r>
              <a:t>Enforce core business rules — unique ISBN/accession no., one active issue per copy, valid dates, non-negative fines, reservation order</a:t>
            </a:r>
          </a:p>
          <a:p>
            <a:pPr marL="342900" indent="-342900">
              <a:spcBef>
                <a:spcPts val="2200"/>
              </a:spcBef>
              <a:buSzPct val="100000"/>
              <a:buChar char="•"/>
              <a:defRPr sz="1400">
                <a:solidFill>
                  <a:srgbClr val="FFFFFF"/>
                </a:solidFill>
              </a:defRPr>
            </a:pPr>
            <a:r>
              <a:t>Build a Java/Python front end for catalogue, circulation and reporting</a:t>
            </a:r>
          </a:p>
          <a:p>
            <a:pPr marL="342900" indent="-342900">
              <a:spcBef>
                <a:spcPts val="2200"/>
              </a:spcBef>
              <a:buSzPct val="100000"/>
              <a:buChar char="•"/>
              <a:defRPr sz="1400">
                <a:solidFill>
                  <a:srgbClr val="FFFFFF"/>
                </a:solidFill>
              </a:defRPr>
            </a:pPr>
            <a:r>
              <a:t>Demonstrate indexing, input validation and systematic testing</a:t>
            </a:r>
          </a:p>
        </p:txBody>
      </p:sp>
      <p:sp>
        <p:nvSpPr>
          <p:cNvPr id="111" name="Text 7"/>
          <p:cNvSpPr txBox="1"/>
          <p:nvPr/>
        </p:nvSpPr>
        <p:spPr>
          <a:xfrm>
            <a:off x="457200" y="6611619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DBMS Project-Based Learning  ·  Project 02  ·  Review 1</a:t>
            </a:r>
          </a:p>
        </p:txBody>
      </p:sp>
      <p:sp>
        <p:nvSpPr>
          <p:cNvPr id="112" name="Text 8"/>
          <p:cNvSpPr txBox="1"/>
          <p:nvPr/>
        </p:nvSpPr>
        <p:spPr>
          <a:xfrm>
            <a:off x="11457431" y="6611619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384047"/>
            <a:ext cx="777241" cy="777242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ext 0"/>
          <p:cNvSpPr txBox="1"/>
          <p:nvPr/>
        </p:nvSpPr>
        <p:spPr>
          <a:xfrm>
            <a:off x="1371600" y="551179"/>
            <a:ext cx="100584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Stakeholders &amp; User Roles</a:t>
            </a:r>
          </a:p>
        </p:txBody>
      </p:sp>
      <p:sp>
        <p:nvSpPr>
          <p:cNvPr id="116" name="Shape 1"/>
          <p:cNvSpPr/>
          <p:nvPr/>
        </p:nvSpPr>
        <p:spPr>
          <a:xfrm>
            <a:off x="548640" y="1600200"/>
            <a:ext cx="3611880" cy="4297680"/>
          </a:xfrm>
          <a:prstGeom prst="roundRect">
            <a:avLst>
              <a:gd name="adj" fmla="val 1519"/>
            </a:avLst>
          </a:prstGeom>
          <a:solidFill>
            <a:srgbClr val="F3EFF8"/>
          </a:solidFill>
          <a:ln w="12700">
            <a:solidFill>
              <a:srgbClr val="35194F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" name="Text 2"/>
          <p:cNvSpPr txBox="1"/>
          <p:nvPr/>
        </p:nvSpPr>
        <p:spPr>
          <a:xfrm>
            <a:off x="777239" y="1982470"/>
            <a:ext cx="315468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Librarian / Admin</a:t>
            </a:r>
          </a:p>
        </p:txBody>
      </p:sp>
      <p:sp>
        <p:nvSpPr>
          <p:cNvPr id="118" name="Text 3"/>
          <p:cNvSpPr txBox="1"/>
          <p:nvPr/>
        </p:nvSpPr>
        <p:spPr>
          <a:xfrm>
            <a:off x="777239" y="3322758"/>
            <a:ext cx="3154682" cy="1538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2200"/>
              </a:spcBef>
              <a:buSzPct val="100000"/>
              <a:buChar char="•"/>
              <a:defRPr sz="1300">
                <a:solidFill>
                  <a:srgbClr val="241536"/>
                </a:solidFill>
              </a:defRPr>
            </a:pPr>
            <a:r>
              <a:t>Catalogue maintenance (add/update/remove titles)</a:t>
            </a:r>
          </a:p>
          <a:p>
            <a:pPr marL="342900" indent="-342900">
              <a:spcBef>
                <a:spcPts val="2200"/>
              </a:spcBef>
              <a:buSzPct val="100000"/>
              <a:buChar char="•"/>
              <a:defRPr sz="1300">
                <a:solidFill>
                  <a:srgbClr val="241536"/>
                </a:solidFill>
              </a:defRPr>
            </a:pPr>
            <a:r>
              <a:t>Member registration and issue/return processing</a:t>
            </a:r>
          </a:p>
          <a:p>
            <a:pPr marL="342900" indent="-342900">
              <a:spcBef>
                <a:spcPts val="2200"/>
              </a:spcBef>
              <a:buSzPct val="100000"/>
              <a:buChar char="•"/>
              <a:defRPr sz="1300">
                <a:solidFill>
                  <a:srgbClr val="241536"/>
                </a:solidFill>
              </a:defRPr>
            </a:pPr>
            <a:r>
              <a:t>Fine collection and generation of reports</a:t>
            </a:r>
          </a:p>
        </p:txBody>
      </p:sp>
      <p:sp>
        <p:nvSpPr>
          <p:cNvPr id="119" name="Shape 4"/>
          <p:cNvSpPr/>
          <p:nvPr/>
        </p:nvSpPr>
        <p:spPr>
          <a:xfrm>
            <a:off x="4379976" y="1600200"/>
            <a:ext cx="3611880" cy="4297680"/>
          </a:xfrm>
          <a:prstGeom prst="roundRect">
            <a:avLst>
              <a:gd name="adj" fmla="val 1519"/>
            </a:avLst>
          </a:prstGeom>
          <a:solidFill>
            <a:srgbClr val="F3EFF8"/>
          </a:solidFill>
          <a:ln w="12700">
            <a:solidFill>
              <a:srgbClr val="35194F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" name="Text 5"/>
          <p:cNvSpPr txBox="1"/>
          <p:nvPr/>
        </p:nvSpPr>
        <p:spPr>
          <a:xfrm>
            <a:off x="4608576" y="1982470"/>
            <a:ext cx="31546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Library Member</a:t>
            </a:r>
          </a:p>
        </p:txBody>
      </p:sp>
      <p:sp>
        <p:nvSpPr>
          <p:cNvPr id="121" name="Text 6"/>
          <p:cNvSpPr txBox="1"/>
          <p:nvPr/>
        </p:nvSpPr>
        <p:spPr>
          <a:xfrm>
            <a:off x="4608576" y="3221158"/>
            <a:ext cx="3154681" cy="1741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2200"/>
              </a:spcBef>
              <a:buSzPct val="100000"/>
              <a:buChar char="•"/>
              <a:defRPr sz="1300">
                <a:solidFill>
                  <a:srgbClr val="241536"/>
                </a:solidFill>
              </a:defRPr>
            </a:pPr>
            <a:r>
              <a:t>Search catalogue by title, author or category</a:t>
            </a:r>
          </a:p>
          <a:p>
            <a:pPr marL="342900" indent="-342900">
              <a:spcBef>
                <a:spcPts val="2200"/>
              </a:spcBef>
              <a:buSzPct val="100000"/>
              <a:buChar char="•"/>
              <a:defRPr sz="1300">
                <a:solidFill>
                  <a:srgbClr val="241536"/>
                </a:solidFill>
              </a:defRPr>
            </a:pPr>
            <a:r>
              <a:t>Reserve unavailable titles and track queue status</a:t>
            </a:r>
          </a:p>
          <a:p>
            <a:pPr marL="342900" indent="-342900">
              <a:spcBef>
                <a:spcPts val="2200"/>
              </a:spcBef>
              <a:buSzPct val="100000"/>
              <a:buChar char="•"/>
              <a:defRPr sz="1300">
                <a:solidFill>
                  <a:srgbClr val="241536"/>
                </a:solidFill>
              </a:defRPr>
            </a:pPr>
            <a:r>
              <a:t>View personal issue history, dues and fines</a:t>
            </a:r>
          </a:p>
        </p:txBody>
      </p:sp>
      <p:sp>
        <p:nvSpPr>
          <p:cNvPr id="122" name="Shape 7"/>
          <p:cNvSpPr/>
          <p:nvPr/>
        </p:nvSpPr>
        <p:spPr>
          <a:xfrm>
            <a:off x="8211311" y="1600200"/>
            <a:ext cx="3611881" cy="4297680"/>
          </a:xfrm>
          <a:prstGeom prst="roundRect">
            <a:avLst>
              <a:gd name="adj" fmla="val 1519"/>
            </a:avLst>
          </a:prstGeom>
          <a:solidFill>
            <a:srgbClr val="F3EFF8"/>
          </a:solidFill>
          <a:ln w="12700">
            <a:solidFill>
              <a:srgbClr val="35194F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" name="Text 8"/>
          <p:cNvSpPr txBox="1"/>
          <p:nvPr/>
        </p:nvSpPr>
        <p:spPr>
          <a:xfrm>
            <a:off x="8439911" y="1982470"/>
            <a:ext cx="315468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System Administrator</a:t>
            </a:r>
          </a:p>
        </p:txBody>
      </p:sp>
      <p:sp>
        <p:nvSpPr>
          <p:cNvPr id="124" name="Text 9"/>
          <p:cNvSpPr txBox="1"/>
          <p:nvPr/>
        </p:nvSpPr>
        <p:spPr>
          <a:xfrm>
            <a:off x="8439911" y="3525958"/>
            <a:ext cx="3154682" cy="1131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2200"/>
              </a:spcBef>
              <a:buSzPct val="100000"/>
              <a:buChar char="•"/>
              <a:defRPr sz="1300">
                <a:solidFill>
                  <a:srgbClr val="241536"/>
                </a:solidFill>
              </a:defRPr>
            </a:pPr>
            <a:r>
              <a:t>Manage user accounts and access levels</a:t>
            </a:r>
          </a:p>
          <a:p>
            <a:pPr marL="342900" indent="-342900">
              <a:spcBef>
                <a:spcPts val="2200"/>
              </a:spcBef>
              <a:buSzPct val="100000"/>
              <a:buChar char="•"/>
              <a:defRPr sz="1300">
                <a:solidFill>
                  <a:srgbClr val="241536"/>
                </a:solidFill>
              </a:defRPr>
            </a:pPr>
            <a:r>
              <a:t>Oversee database backups and security</a:t>
            </a:r>
          </a:p>
          <a:p>
            <a:pPr marL="342900" indent="-342900">
              <a:spcBef>
                <a:spcPts val="2200"/>
              </a:spcBef>
              <a:buSzPct val="100000"/>
              <a:buChar char="•"/>
              <a:defRPr sz="1300">
                <a:solidFill>
                  <a:srgbClr val="241536"/>
                </a:solidFill>
              </a:defRPr>
            </a:pPr>
            <a:r>
              <a:t>Monitor overall system performance</a:t>
            </a:r>
          </a:p>
        </p:txBody>
      </p:sp>
      <p:sp>
        <p:nvSpPr>
          <p:cNvPr id="125" name="Text 10"/>
          <p:cNvSpPr txBox="1"/>
          <p:nvPr/>
        </p:nvSpPr>
        <p:spPr>
          <a:xfrm>
            <a:off x="457200" y="6611619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DBMS Project-Based Learning  ·  Project 02  ·  Review 1</a:t>
            </a:r>
          </a:p>
        </p:txBody>
      </p:sp>
      <p:sp>
        <p:nvSpPr>
          <p:cNvPr id="126" name="Text 11"/>
          <p:cNvSpPr txBox="1"/>
          <p:nvPr/>
        </p:nvSpPr>
        <p:spPr>
          <a:xfrm>
            <a:off x="11457431" y="6611619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384047"/>
            <a:ext cx="777241" cy="777242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Text 0"/>
          <p:cNvSpPr txBox="1"/>
          <p:nvPr/>
        </p:nvSpPr>
        <p:spPr>
          <a:xfrm>
            <a:off x="1371600" y="551179"/>
            <a:ext cx="100584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Functional Requirements</a:t>
            </a:r>
          </a:p>
        </p:txBody>
      </p:sp>
      <p:sp>
        <p:nvSpPr>
          <p:cNvPr id="130" name="Shape 1"/>
          <p:cNvSpPr/>
          <p:nvPr/>
        </p:nvSpPr>
        <p:spPr>
          <a:xfrm>
            <a:off x="502919" y="1508760"/>
            <a:ext cx="2651762" cy="1965961"/>
          </a:xfrm>
          <a:prstGeom prst="roundRect">
            <a:avLst>
              <a:gd name="adj" fmla="val 2791"/>
            </a:avLst>
          </a:prstGeom>
          <a:solidFill>
            <a:srgbClr val="F3EFF8"/>
          </a:solidFill>
          <a:ln w="12700">
            <a:solidFill>
              <a:srgbClr val="DFD4EA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" name="Text 2"/>
          <p:cNvSpPr txBox="1"/>
          <p:nvPr/>
        </p:nvSpPr>
        <p:spPr>
          <a:xfrm>
            <a:off x="685800" y="1673351"/>
            <a:ext cx="22860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Catalogue Management</a:t>
            </a:r>
          </a:p>
        </p:txBody>
      </p:sp>
      <p:sp>
        <p:nvSpPr>
          <p:cNvPr id="132" name="Text 3"/>
          <p:cNvSpPr txBox="1"/>
          <p:nvPr/>
        </p:nvSpPr>
        <p:spPr>
          <a:xfrm>
            <a:off x="685800" y="2240279"/>
            <a:ext cx="228600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241536"/>
                </a:solidFill>
              </a:defRPr>
            </a:lvl1pPr>
          </a:lstStyle>
          <a:p>
            <a:pPr/>
            <a:r>
              <a:t>Add, update and remove books, editions, authors, publishers, categories and copies.</a:t>
            </a:r>
          </a:p>
        </p:txBody>
      </p:sp>
      <p:sp>
        <p:nvSpPr>
          <p:cNvPr id="133" name="Shape 4"/>
          <p:cNvSpPr/>
          <p:nvPr/>
        </p:nvSpPr>
        <p:spPr>
          <a:xfrm>
            <a:off x="3282696" y="1508760"/>
            <a:ext cx="2651761" cy="1965961"/>
          </a:xfrm>
          <a:prstGeom prst="roundRect">
            <a:avLst>
              <a:gd name="adj" fmla="val 2791"/>
            </a:avLst>
          </a:prstGeom>
          <a:solidFill>
            <a:srgbClr val="F3EFF8"/>
          </a:solidFill>
          <a:ln w="12700">
            <a:solidFill>
              <a:srgbClr val="DFD4EA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" name="Text 5"/>
          <p:cNvSpPr txBox="1"/>
          <p:nvPr/>
        </p:nvSpPr>
        <p:spPr>
          <a:xfrm>
            <a:off x="3465576" y="1673351"/>
            <a:ext cx="22860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Member Management</a:t>
            </a:r>
          </a:p>
        </p:txBody>
      </p:sp>
      <p:sp>
        <p:nvSpPr>
          <p:cNvPr id="135" name="Text 6"/>
          <p:cNvSpPr txBox="1"/>
          <p:nvPr/>
        </p:nvSpPr>
        <p:spPr>
          <a:xfrm>
            <a:off x="3465576" y="2240279"/>
            <a:ext cx="2286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241536"/>
                </a:solidFill>
              </a:defRPr>
            </a:lvl1pPr>
          </a:lstStyle>
          <a:p>
            <a:pPr/>
            <a:r>
              <a:t>Registration, profile updates and membership status tracking.</a:t>
            </a:r>
          </a:p>
        </p:txBody>
      </p:sp>
      <p:sp>
        <p:nvSpPr>
          <p:cNvPr id="136" name="Shape 7"/>
          <p:cNvSpPr/>
          <p:nvPr/>
        </p:nvSpPr>
        <p:spPr>
          <a:xfrm>
            <a:off x="6062471" y="1508760"/>
            <a:ext cx="2651761" cy="1965961"/>
          </a:xfrm>
          <a:prstGeom prst="roundRect">
            <a:avLst>
              <a:gd name="adj" fmla="val 2791"/>
            </a:avLst>
          </a:prstGeom>
          <a:solidFill>
            <a:srgbClr val="F3EFF8"/>
          </a:solidFill>
          <a:ln w="12700">
            <a:solidFill>
              <a:srgbClr val="DFD4EA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" name="Text 8"/>
          <p:cNvSpPr txBox="1"/>
          <p:nvPr/>
        </p:nvSpPr>
        <p:spPr>
          <a:xfrm>
            <a:off x="6245352" y="1673351"/>
            <a:ext cx="22860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Circulation</a:t>
            </a:r>
          </a:p>
        </p:txBody>
      </p:sp>
      <p:sp>
        <p:nvSpPr>
          <p:cNvPr id="138" name="Text 9"/>
          <p:cNvSpPr txBox="1"/>
          <p:nvPr/>
        </p:nvSpPr>
        <p:spPr>
          <a:xfrm>
            <a:off x="6245352" y="2240279"/>
            <a:ext cx="2286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241536"/>
                </a:solidFill>
              </a:defRPr>
            </a:lvl1pPr>
          </a:lstStyle>
          <a:p>
            <a:pPr/>
            <a:r>
              <a:t>Issue and return processing with real-time copy-availability checks.</a:t>
            </a:r>
          </a:p>
        </p:txBody>
      </p:sp>
      <p:sp>
        <p:nvSpPr>
          <p:cNvPr id="139" name="Shape 10"/>
          <p:cNvSpPr/>
          <p:nvPr/>
        </p:nvSpPr>
        <p:spPr>
          <a:xfrm>
            <a:off x="8842247" y="1508760"/>
            <a:ext cx="2651761" cy="1965961"/>
          </a:xfrm>
          <a:prstGeom prst="roundRect">
            <a:avLst>
              <a:gd name="adj" fmla="val 2791"/>
            </a:avLst>
          </a:prstGeom>
          <a:solidFill>
            <a:srgbClr val="F3EFF8"/>
          </a:solidFill>
          <a:ln w="12700">
            <a:solidFill>
              <a:srgbClr val="DFD4EA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" name="Text 11"/>
          <p:cNvSpPr txBox="1"/>
          <p:nvPr/>
        </p:nvSpPr>
        <p:spPr>
          <a:xfrm>
            <a:off x="9025128" y="1673351"/>
            <a:ext cx="22860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Reservation Handling</a:t>
            </a:r>
          </a:p>
        </p:txBody>
      </p:sp>
      <p:sp>
        <p:nvSpPr>
          <p:cNvPr id="141" name="Text 12"/>
          <p:cNvSpPr txBox="1"/>
          <p:nvPr/>
        </p:nvSpPr>
        <p:spPr>
          <a:xfrm>
            <a:off x="9025128" y="2240279"/>
            <a:ext cx="22860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241536"/>
                </a:solidFill>
              </a:defRPr>
            </a:lvl1pPr>
          </a:lstStyle>
          <a:p>
            <a:pPr/>
            <a:r>
              <a:t>Queue members for unavailable titles and notify on availability.</a:t>
            </a:r>
          </a:p>
        </p:txBody>
      </p:sp>
      <p:sp>
        <p:nvSpPr>
          <p:cNvPr id="142" name="Shape 13"/>
          <p:cNvSpPr/>
          <p:nvPr/>
        </p:nvSpPr>
        <p:spPr>
          <a:xfrm>
            <a:off x="502919" y="3703320"/>
            <a:ext cx="2651762" cy="1965961"/>
          </a:xfrm>
          <a:prstGeom prst="roundRect">
            <a:avLst>
              <a:gd name="adj" fmla="val 2791"/>
            </a:avLst>
          </a:prstGeom>
          <a:solidFill>
            <a:srgbClr val="F3EFF8"/>
          </a:solidFill>
          <a:ln w="12700">
            <a:solidFill>
              <a:srgbClr val="DFD4EA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" name="Text 14"/>
          <p:cNvSpPr txBox="1"/>
          <p:nvPr/>
        </p:nvSpPr>
        <p:spPr>
          <a:xfrm>
            <a:off x="685800" y="3867911"/>
            <a:ext cx="22860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Fine Management</a:t>
            </a:r>
          </a:p>
        </p:txBody>
      </p:sp>
      <p:sp>
        <p:nvSpPr>
          <p:cNvPr id="144" name="Text 15"/>
          <p:cNvSpPr txBox="1"/>
          <p:nvPr/>
        </p:nvSpPr>
        <p:spPr>
          <a:xfrm>
            <a:off x="685800" y="4434840"/>
            <a:ext cx="2286000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241536"/>
                </a:solidFill>
              </a:defRPr>
            </a:lvl1pPr>
          </a:lstStyle>
          <a:p>
            <a:pPr/>
            <a:r>
              <a:t>Calculate, record and collect fines, always non-negative.</a:t>
            </a:r>
          </a:p>
        </p:txBody>
      </p:sp>
      <p:sp>
        <p:nvSpPr>
          <p:cNvPr id="145" name="Shape 16"/>
          <p:cNvSpPr/>
          <p:nvPr/>
        </p:nvSpPr>
        <p:spPr>
          <a:xfrm>
            <a:off x="3282696" y="3703320"/>
            <a:ext cx="2651761" cy="1965961"/>
          </a:xfrm>
          <a:prstGeom prst="roundRect">
            <a:avLst>
              <a:gd name="adj" fmla="val 2791"/>
            </a:avLst>
          </a:prstGeom>
          <a:solidFill>
            <a:srgbClr val="F3EFF8"/>
          </a:solidFill>
          <a:ln w="12700">
            <a:solidFill>
              <a:srgbClr val="DFD4EA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" name="Text 17"/>
          <p:cNvSpPr txBox="1"/>
          <p:nvPr/>
        </p:nvSpPr>
        <p:spPr>
          <a:xfrm>
            <a:off x="3465576" y="3867911"/>
            <a:ext cx="22860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Digital Access Logging</a:t>
            </a:r>
          </a:p>
        </p:txBody>
      </p:sp>
      <p:sp>
        <p:nvSpPr>
          <p:cNvPr id="147" name="Text 18"/>
          <p:cNvSpPr txBox="1"/>
          <p:nvPr/>
        </p:nvSpPr>
        <p:spPr>
          <a:xfrm>
            <a:off x="3465576" y="4434840"/>
            <a:ext cx="228600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241536"/>
                </a:solidFill>
              </a:defRPr>
            </a:lvl1pPr>
          </a:lstStyle>
          <a:p>
            <a:pPr/>
            <a:r>
              <a:t>Record member access to licensed digital resources.</a:t>
            </a:r>
          </a:p>
        </p:txBody>
      </p:sp>
      <p:sp>
        <p:nvSpPr>
          <p:cNvPr id="148" name="Shape 19"/>
          <p:cNvSpPr/>
          <p:nvPr/>
        </p:nvSpPr>
        <p:spPr>
          <a:xfrm>
            <a:off x="6062471" y="3703320"/>
            <a:ext cx="2651761" cy="1965961"/>
          </a:xfrm>
          <a:prstGeom prst="roundRect">
            <a:avLst>
              <a:gd name="adj" fmla="val 2791"/>
            </a:avLst>
          </a:prstGeom>
          <a:solidFill>
            <a:srgbClr val="F3EFF8"/>
          </a:solidFill>
          <a:ln w="12700">
            <a:solidFill>
              <a:srgbClr val="DFD4EA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" name="Text 20"/>
          <p:cNvSpPr txBox="1"/>
          <p:nvPr/>
        </p:nvSpPr>
        <p:spPr>
          <a:xfrm>
            <a:off x="6245352" y="3867911"/>
            <a:ext cx="22860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Search</a:t>
            </a:r>
          </a:p>
        </p:txBody>
      </p:sp>
      <p:sp>
        <p:nvSpPr>
          <p:cNvPr id="150" name="Text 21"/>
          <p:cNvSpPr txBox="1"/>
          <p:nvPr/>
        </p:nvSpPr>
        <p:spPr>
          <a:xfrm>
            <a:off x="6245352" y="4434840"/>
            <a:ext cx="228600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241536"/>
                </a:solidFill>
              </a:defRPr>
            </a:lvl1pPr>
          </a:lstStyle>
          <a:p>
            <a:pPr/>
            <a:r>
              <a:t>Search the catalogue by title, author, category or availability.</a:t>
            </a:r>
          </a:p>
        </p:txBody>
      </p:sp>
      <p:sp>
        <p:nvSpPr>
          <p:cNvPr id="151" name="Shape 22"/>
          <p:cNvSpPr/>
          <p:nvPr/>
        </p:nvSpPr>
        <p:spPr>
          <a:xfrm>
            <a:off x="8842247" y="3703320"/>
            <a:ext cx="2651761" cy="1965961"/>
          </a:xfrm>
          <a:prstGeom prst="roundRect">
            <a:avLst>
              <a:gd name="adj" fmla="val 2791"/>
            </a:avLst>
          </a:prstGeom>
          <a:solidFill>
            <a:srgbClr val="F3EFF8"/>
          </a:solidFill>
          <a:ln w="12700">
            <a:solidFill>
              <a:srgbClr val="DFD4EA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" name="Text 23"/>
          <p:cNvSpPr txBox="1"/>
          <p:nvPr/>
        </p:nvSpPr>
        <p:spPr>
          <a:xfrm>
            <a:off x="9025128" y="3867911"/>
            <a:ext cx="22860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Reporting</a:t>
            </a:r>
          </a:p>
        </p:txBody>
      </p:sp>
      <p:sp>
        <p:nvSpPr>
          <p:cNvPr id="153" name="Text 24"/>
          <p:cNvSpPr txBox="1"/>
          <p:nvPr/>
        </p:nvSpPr>
        <p:spPr>
          <a:xfrm>
            <a:off x="9025128" y="4434840"/>
            <a:ext cx="228600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241536"/>
                </a:solidFill>
              </a:defRPr>
            </a:lvl1pPr>
          </a:lstStyle>
          <a:p>
            <a:pPr/>
            <a:r>
              <a:t>Overdue copies, member history, popular titles, fine collection.</a:t>
            </a:r>
          </a:p>
        </p:txBody>
      </p:sp>
      <p:sp>
        <p:nvSpPr>
          <p:cNvPr id="154" name="Text 25"/>
          <p:cNvSpPr txBox="1"/>
          <p:nvPr/>
        </p:nvSpPr>
        <p:spPr>
          <a:xfrm>
            <a:off x="457200" y="6611619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DBMS Project-Based Learning  ·  Project 02  ·  Review 1</a:t>
            </a:r>
          </a:p>
        </p:txBody>
      </p:sp>
      <p:sp>
        <p:nvSpPr>
          <p:cNvPr id="155" name="Text 26"/>
          <p:cNvSpPr txBox="1"/>
          <p:nvPr/>
        </p:nvSpPr>
        <p:spPr>
          <a:xfrm>
            <a:off x="11457431" y="6611619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384047"/>
            <a:ext cx="777241" cy="777242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Text 0"/>
          <p:cNvSpPr txBox="1"/>
          <p:nvPr/>
        </p:nvSpPr>
        <p:spPr>
          <a:xfrm>
            <a:off x="1371600" y="551179"/>
            <a:ext cx="100584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Non-Functional Requirements &amp; Tech Stack</a:t>
            </a:r>
          </a:p>
        </p:txBody>
      </p:sp>
      <p:sp>
        <p:nvSpPr>
          <p:cNvPr id="159" name="Shape 1"/>
          <p:cNvSpPr/>
          <p:nvPr/>
        </p:nvSpPr>
        <p:spPr>
          <a:xfrm>
            <a:off x="548640" y="1508760"/>
            <a:ext cx="6400801" cy="4572001"/>
          </a:xfrm>
          <a:prstGeom prst="roundRect">
            <a:avLst>
              <a:gd name="adj" fmla="val 1200"/>
            </a:avLst>
          </a:prstGeom>
          <a:solidFill>
            <a:srgbClr val="F3EFF8"/>
          </a:solidFill>
          <a:ln w="12700">
            <a:solidFill>
              <a:srgbClr val="35194F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" name="Text 2"/>
          <p:cNvSpPr txBox="1"/>
          <p:nvPr/>
        </p:nvSpPr>
        <p:spPr>
          <a:xfrm>
            <a:off x="822959" y="1793239"/>
            <a:ext cx="585216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Non-Functional Requirements</a:t>
            </a:r>
          </a:p>
        </p:txBody>
      </p:sp>
      <p:sp>
        <p:nvSpPr>
          <p:cNvPr id="161" name="Text 3"/>
          <p:cNvSpPr txBox="1"/>
          <p:nvPr/>
        </p:nvSpPr>
        <p:spPr>
          <a:xfrm>
            <a:off x="822959" y="2780600"/>
            <a:ext cx="5852162" cy="2576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2000"/>
              </a:spcBef>
              <a:buSzPct val="100000"/>
              <a:buChar char="•"/>
              <a:defRPr sz="1400">
                <a:solidFill>
                  <a:srgbClr val="241536"/>
                </a:solidFill>
              </a:defRPr>
            </a:pPr>
            <a:r>
              <a:t>Data integrity enforced via primary/foreign keys, UNIQUE, NOT NULL, CHECK and DEFAULT constraints</a:t>
            </a:r>
          </a:p>
          <a:p>
            <a:pPr marL="342900" indent="-342900">
              <a:spcBef>
                <a:spcPts val="2000"/>
              </a:spcBef>
              <a:buSzPct val="100000"/>
              <a:buChar char="•"/>
              <a:defRPr sz="1400">
                <a:solidFill>
                  <a:srgbClr val="241536"/>
                </a:solidFill>
              </a:defRPr>
            </a:pPr>
            <a:r>
              <a:t>Concurrency control — only one active issue permitted per copy at any time</a:t>
            </a:r>
          </a:p>
          <a:p>
            <a:pPr marL="342900" indent="-342900">
              <a:spcBef>
                <a:spcPts val="2000"/>
              </a:spcBef>
              <a:buSzPct val="100000"/>
              <a:buChar char="•"/>
              <a:defRPr sz="1400">
                <a:solidFill>
                  <a:srgbClr val="241536"/>
                </a:solidFill>
              </a:defRPr>
            </a:pPr>
            <a:r>
              <a:t>Performance — indexing on frequently searched attributes (ISBN, member ID, title)</a:t>
            </a:r>
          </a:p>
          <a:p>
            <a:pPr marL="342900" indent="-342900">
              <a:spcBef>
                <a:spcPts val="2000"/>
              </a:spcBef>
              <a:buSzPct val="100000"/>
              <a:buChar char="•"/>
              <a:defRPr sz="1400">
                <a:solidFill>
                  <a:srgbClr val="241536"/>
                </a:solidFill>
              </a:defRPr>
            </a:pPr>
            <a:r>
              <a:t>Usability — a simple, task-focused interface for librarians and members</a:t>
            </a:r>
          </a:p>
          <a:p>
            <a:pPr marL="342900" indent="-342900">
              <a:spcBef>
                <a:spcPts val="2000"/>
              </a:spcBef>
              <a:buSzPct val="100000"/>
              <a:buChar char="•"/>
              <a:defRPr sz="1400">
                <a:solidFill>
                  <a:srgbClr val="241536"/>
                </a:solidFill>
              </a:defRPr>
            </a:pPr>
            <a:r>
              <a:t>Reliability — systematic input validation and testing</a:t>
            </a:r>
          </a:p>
        </p:txBody>
      </p:sp>
      <p:sp>
        <p:nvSpPr>
          <p:cNvPr id="162" name="Shape 4"/>
          <p:cNvSpPr/>
          <p:nvPr/>
        </p:nvSpPr>
        <p:spPr>
          <a:xfrm>
            <a:off x="7178040" y="1508760"/>
            <a:ext cx="4480560" cy="4572001"/>
          </a:xfrm>
          <a:prstGeom prst="roundRect">
            <a:avLst>
              <a:gd name="adj" fmla="val 1224"/>
            </a:avLst>
          </a:prstGeom>
          <a:solidFill>
            <a:srgbClr val="35194F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" name="Text 5"/>
          <p:cNvSpPr txBox="1"/>
          <p:nvPr/>
        </p:nvSpPr>
        <p:spPr>
          <a:xfrm>
            <a:off x="7452359" y="1793239"/>
            <a:ext cx="39319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D4AF3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Proposed Tech Stack</a:t>
            </a:r>
          </a:p>
        </p:txBody>
      </p:sp>
      <p:sp>
        <p:nvSpPr>
          <p:cNvPr id="164" name="Text 6"/>
          <p:cNvSpPr txBox="1"/>
          <p:nvPr/>
        </p:nvSpPr>
        <p:spPr>
          <a:xfrm>
            <a:off x="7452359" y="2454079"/>
            <a:ext cx="393192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D4AF37"/>
                </a:solidFill>
              </a:defRPr>
            </a:lvl1pPr>
          </a:lstStyle>
          <a:p>
            <a:pPr/>
            <a:r>
              <a:t>Database</a:t>
            </a:r>
          </a:p>
        </p:txBody>
      </p:sp>
      <p:sp>
        <p:nvSpPr>
          <p:cNvPr id="165" name="Text 7"/>
          <p:cNvSpPr txBox="1"/>
          <p:nvPr/>
        </p:nvSpPr>
        <p:spPr>
          <a:xfrm>
            <a:off x="7452359" y="2906707"/>
            <a:ext cx="393192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MySQL / PostgreSQL / Oracle</a:t>
            </a:r>
          </a:p>
        </p:txBody>
      </p:sp>
      <p:sp>
        <p:nvSpPr>
          <p:cNvPr id="166" name="Text 8"/>
          <p:cNvSpPr txBox="1"/>
          <p:nvPr/>
        </p:nvSpPr>
        <p:spPr>
          <a:xfrm>
            <a:off x="7452359" y="3642798"/>
            <a:ext cx="39319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D4AF37"/>
                </a:solidFill>
              </a:defRPr>
            </a:lvl1pPr>
          </a:lstStyle>
          <a:p>
            <a:pPr/>
            <a:r>
              <a:t>Application Layer</a:t>
            </a:r>
          </a:p>
        </p:txBody>
      </p:sp>
      <p:sp>
        <p:nvSpPr>
          <p:cNvPr id="167" name="Text 9"/>
          <p:cNvSpPr txBox="1"/>
          <p:nvPr/>
        </p:nvSpPr>
        <p:spPr>
          <a:xfrm>
            <a:off x="7452359" y="4095427"/>
            <a:ext cx="39319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Java or Python</a:t>
            </a:r>
          </a:p>
        </p:txBody>
      </p:sp>
      <p:sp>
        <p:nvSpPr>
          <p:cNvPr id="168" name="Text 10"/>
          <p:cNvSpPr txBox="1"/>
          <p:nvPr/>
        </p:nvSpPr>
        <p:spPr>
          <a:xfrm>
            <a:off x="7452359" y="4831519"/>
            <a:ext cx="393192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D4AF37"/>
                </a:solidFill>
              </a:defRPr>
            </a:lvl1pPr>
          </a:lstStyle>
          <a:p>
            <a:pPr/>
            <a:r>
              <a:t>Design &amp; Modelling</a:t>
            </a:r>
          </a:p>
        </p:txBody>
      </p:sp>
      <p:sp>
        <p:nvSpPr>
          <p:cNvPr id="169" name="Text 11"/>
          <p:cNvSpPr txBox="1"/>
          <p:nvPr/>
        </p:nvSpPr>
        <p:spPr>
          <a:xfrm>
            <a:off x="7452359" y="5284147"/>
            <a:ext cx="39319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ER modelling tool + SQL DDL scripts</a:t>
            </a:r>
          </a:p>
        </p:txBody>
      </p:sp>
      <p:sp>
        <p:nvSpPr>
          <p:cNvPr id="170" name="Text 12"/>
          <p:cNvSpPr txBox="1"/>
          <p:nvPr/>
        </p:nvSpPr>
        <p:spPr>
          <a:xfrm>
            <a:off x="457200" y="6611619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DBMS Project-Based Learning  ·  Project 02  ·  Review 1</a:t>
            </a:r>
          </a:p>
        </p:txBody>
      </p:sp>
      <p:sp>
        <p:nvSpPr>
          <p:cNvPr id="171" name="Text 13"/>
          <p:cNvSpPr txBox="1"/>
          <p:nvPr/>
        </p:nvSpPr>
        <p:spPr>
          <a:xfrm>
            <a:off x="11457431" y="6611619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384047"/>
            <a:ext cx="777241" cy="777242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Text 0"/>
          <p:cNvSpPr txBox="1"/>
          <p:nvPr/>
        </p:nvSpPr>
        <p:spPr>
          <a:xfrm>
            <a:off x="1371600" y="551179"/>
            <a:ext cx="100584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Conceptual Design — Core Entities</a:t>
            </a:r>
          </a:p>
        </p:txBody>
      </p:sp>
      <p:sp>
        <p:nvSpPr>
          <p:cNvPr id="175" name="Shape 1"/>
          <p:cNvSpPr/>
          <p:nvPr/>
        </p:nvSpPr>
        <p:spPr>
          <a:xfrm>
            <a:off x="548640" y="1508760"/>
            <a:ext cx="5349241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9050">
            <a:solidFill>
              <a:srgbClr val="35194F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" name="Text 2"/>
          <p:cNvSpPr txBox="1"/>
          <p:nvPr/>
        </p:nvSpPr>
        <p:spPr>
          <a:xfrm>
            <a:off x="822960" y="1786889"/>
            <a:ext cx="4800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Catalog Subsystem</a:t>
            </a:r>
          </a:p>
        </p:txBody>
      </p:sp>
      <p:sp>
        <p:nvSpPr>
          <p:cNvPr id="177" name="Shape 3"/>
          <p:cNvSpPr/>
          <p:nvPr/>
        </p:nvSpPr>
        <p:spPr>
          <a:xfrm>
            <a:off x="822960" y="2286000"/>
            <a:ext cx="4800601" cy="457200"/>
          </a:xfrm>
          <a:prstGeom prst="roundRect">
            <a:avLst>
              <a:gd name="adj" fmla="val 50000"/>
            </a:avLst>
          </a:prstGeom>
          <a:solidFill>
            <a:srgbClr val="35194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4"/>
          <p:cNvSpPr txBox="1"/>
          <p:nvPr/>
        </p:nvSpPr>
        <p:spPr>
          <a:xfrm>
            <a:off x="822960" y="2431219"/>
            <a:ext cx="4800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Books</a:t>
            </a:r>
          </a:p>
        </p:txBody>
      </p:sp>
      <p:sp>
        <p:nvSpPr>
          <p:cNvPr id="179" name="Shape 5"/>
          <p:cNvSpPr/>
          <p:nvPr/>
        </p:nvSpPr>
        <p:spPr>
          <a:xfrm>
            <a:off x="822960" y="2889504"/>
            <a:ext cx="4800601" cy="457201"/>
          </a:xfrm>
          <a:prstGeom prst="roundRect">
            <a:avLst>
              <a:gd name="adj" fmla="val 50000"/>
            </a:avLst>
          </a:prstGeom>
          <a:solidFill>
            <a:srgbClr val="35194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6"/>
          <p:cNvSpPr txBox="1"/>
          <p:nvPr/>
        </p:nvSpPr>
        <p:spPr>
          <a:xfrm>
            <a:off x="822960" y="3034723"/>
            <a:ext cx="4800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Editions</a:t>
            </a:r>
          </a:p>
        </p:txBody>
      </p:sp>
      <p:sp>
        <p:nvSpPr>
          <p:cNvPr id="181" name="Shape 7"/>
          <p:cNvSpPr/>
          <p:nvPr/>
        </p:nvSpPr>
        <p:spPr>
          <a:xfrm>
            <a:off x="822960" y="3493008"/>
            <a:ext cx="4800601" cy="457201"/>
          </a:xfrm>
          <a:prstGeom prst="roundRect">
            <a:avLst>
              <a:gd name="adj" fmla="val 50000"/>
            </a:avLst>
          </a:prstGeom>
          <a:solidFill>
            <a:srgbClr val="35194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8"/>
          <p:cNvSpPr txBox="1"/>
          <p:nvPr/>
        </p:nvSpPr>
        <p:spPr>
          <a:xfrm>
            <a:off x="822960" y="3638227"/>
            <a:ext cx="4800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Authors</a:t>
            </a:r>
          </a:p>
        </p:txBody>
      </p:sp>
      <p:sp>
        <p:nvSpPr>
          <p:cNvPr id="183" name="Shape 9"/>
          <p:cNvSpPr/>
          <p:nvPr/>
        </p:nvSpPr>
        <p:spPr>
          <a:xfrm>
            <a:off x="822960" y="4096511"/>
            <a:ext cx="4800601" cy="457201"/>
          </a:xfrm>
          <a:prstGeom prst="roundRect">
            <a:avLst>
              <a:gd name="adj" fmla="val 50000"/>
            </a:avLst>
          </a:prstGeom>
          <a:solidFill>
            <a:srgbClr val="35194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10"/>
          <p:cNvSpPr txBox="1"/>
          <p:nvPr/>
        </p:nvSpPr>
        <p:spPr>
          <a:xfrm>
            <a:off x="822960" y="4241731"/>
            <a:ext cx="4800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Publishers</a:t>
            </a:r>
          </a:p>
        </p:txBody>
      </p:sp>
      <p:sp>
        <p:nvSpPr>
          <p:cNvPr id="185" name="Shape 11"/>
          <p:cNvSpPr/>
          <p:nvPr/>
        </p:nvSpPr>
        <p:spPr>
          <a:xfrm>
            <a:off x="822960" y="4700015"/>
            <a:ext cx="4800601" cy="457201"/>
          </a:xfrm>
          <a:prstGeom prst="roundRect">
            <a:avLst>
              <a:gd name="adj" fmla="val 50000"/>
            </a:avLst>
          </a:prstGeom>
          <a:solidFill>
            <a:srgbClr val="35194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12"/>
          <p:cNvSpPr txBox="1"/>
          <p:nvPr/>
        </p:nvSpPr>
        <p:spPr>
          <a:xfrm>
            <a:off x="822960" y="4845234"/>
            <a:ext cx="4800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Categories</a:t>
            </a:r>
          </a:p>
        </p:txBody>
      </p:sp>
      <p:sp>
        <p:nvSpPr>
          <p:cNvPr id="187" name="Shape 13"/>
          <p:cNvSpPr/>
          <p:nvPr/>
        </p:nvSpPr>
        <p:spPr>
          <a:xfrm>
            <a:off x="822960" y="5303520"/>
            <a:ext cx="4800601" cy="457201"/>
          </a:xfrm>
          <a:prstGeom prst="roundRect">
            <a:avLst>
              <a:gd name="adj" fmla="val 50000"/>
            </a:avLst>
          </a:prstGeom>
          <a:solidFill>
            <a:srgbClr val="35194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14"/>
          <p:cNvSpPr txBox="1"/>
          <p:nvPr/>
        </p:nvSpPr>
        <p:spPr>
          <a:xfrm>
            <a:off x="822960" y="5448739"/>
            <a:ext cx="4800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Copies</a:t>
            </a:r>
          </a:p>
        </p:txBody>
      </p:sp>
      <p:sp>
        <p:nvSpPr>
          <p:cNvPr id="189" name="Shape 15"/>
          <p:cNvSpPr/>
          <p:nvPr/>
        </p:nvSpPr>
        <p:spPr>
          <a:xfrm>
            <a:off x="6263640" y="1508760"/>
            <a:ext cx="5349241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9050">
            <a:solidFill>
              <a:srgbClr val="0E8388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" name="Text 16"/>
          <p:cNvSpPr txBox="1"/>
          <p:nvPr/>
        </p:nvSpPr>
        <p:spPr>
          <a:xfrm>
            <a:off x="6537959" y="1786889"/>
            <a:ext cx="4800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0E838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Circulation Subsystem</a:t>
            </a:r>
          </a:p>
        </p:txBody>
      </p:sp>
      <p:sp>
        <p:nvSpPr>
          <p:cNvPr id="191" name="Shape 17"/>
          <p:cNvSpPr/>
          <p:nvPr/>
        </p:nvSpPr>
        <p:spPr>
          <a:xfrm>
            <a:off x="6537959" y="2286000"/>
            <a:ext cx="4800601" cy="457200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18"/>
          <p:cNvSpPr txBox="1"/>
          <p:nvPr/>
        </p:nvSpPr>
        <p:spPr>
          <a:xfrm>
            <a:off x="6537959" y="2431219"/>
            <a:ext cx="4800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Members</a:t>
            </a:r>
          </a:p>
        </p:txBody>
      </p:sp>
      <p:sp>
        <p:nvSpPr>
          <p:cNvPr id="193" name="Shape 19"/>
          <p:cNvSpPr/>
          <p:nvPr/>
        </p:nvSpPr>
        <p:spPr>
          <a:xfrm>
            <a:off x="6537959" y="2889504"/>
            <a:ext cx="4800601" cy="457201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20"/>
          <p:cNvSpPr txBox="1"/>
          <p:nvPr/>
        </p:nvSpPr>
        <p:spPr>
          <a:xfrm>
            <a:off x="6537959" y="3034723"/>
            <a:ext cx="4800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Issues</a:t>
            </a:r>
          </a:p>
        </p:txBody>
      </p:sp>
      <p:sp>
        <p:nvSpPr>
          <p:cNvPr id="195" name="Shape 21"/>
          <p:cNvSpPr/>
          <p:nvPr/>
        </p:nvSpPr>
        <p:spPr>
          <a:xfrm>
            <a:off x="6537959" y="3493008"/>
            <a:ext cx="4800601" cy="457201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22"/>
          <p:cNvSpPr txBox="1"/>
          <p:nvPr/>
        </p:nvSpPr>
        <p:spPr>
          <a:xfrm>
            <a:off x="6537959" y="3638227"/>
            <a:ext cx="4800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Returns</a:t>
            </a:r>
          </a:p>
        </p:txBody>
      </p:sp>
      <p:sp>
        <p:nvSpPr>
          <p:cNvPr id="197" name="Shape 23"/>
          <p:cNvSpPr/>
          <p:nvPr/>
        </p:nvSpPr>
        <p:spPr>
          <a:xfrm>
            <a:off x="6537959" y="4096511"/>
            <a:ext cx="4800601" cy="457201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ext 24"/>
          <p:cNvSpPr txBox="1"/>
          <p:nvPr/>
        </p:nvSpPr>
        <p:spPr>
          <a:xfrm>
            <a:off x="6537959" y="4241731"/>
            <a:ext cx="4800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Reservations</a:t>
            </a:r>
          </a:p>
        </p:txBody>
      </p:sp>
      <p:sp>
        <p:nvSpPr>
          <p:cNvPr id="199" name="Shape 25"/>
          <p:cNvSpPr/>
          <p:nvPr/>
        </p:nvSpPr>
        <p:spPr>
          <a:xfrm>
            <a:off x="6537959" y="4700015"/>
            <a:ext cx="4800601" cy="457201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 26"/>
          <p:cNvSpPr txBox="1"/>
          <p:nvPr/>
        </p:nvSpPr>
        <p:spPr>
          <a:xfrm>
            <a:off x="6537959" y="4845234"/>
            <a:ext cx="4800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Fines</a:t>
            </a:r>
          </a:p>
        </p:txBody>
      </p:sp>
      <p:sp>
        <p:nvSpPr>
          <p:cNvPr id="201" name="Shape 27"/>
          <p:cNvSpPr/>
          <p:nvPr/>
        </p:nvSpPr>
        <p:spPr>
          <a:xfrm>
            <a:off x="6537959" y="5303520"/>
            <a:ext cx="4800601" cy="457201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28"/>
          <p:cNvSpPr txBox="1"/>
          <p:nvPr/>
        </p:nvSpPr>
        <p:spPr>
          <a:xfrm>
            <a:off x="6537959" y="5448739"/>
            <a:ext cx="4800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Digital-Access Logs</a:t>
            </a:r>
          </a:p>
        </p:txBody>
      </p:sp>
      <p:sp>
        <p:nvSpPr>
          <p:cNvPr id="203" name="Text 29"/>
          <p:cNvSpPr txBox="1"/>
          <p:nvPr/>
        </p:nvSpPr>
        <p:spPr>
          <a:xfrm>
            <a:off x="548640" y="6237654"/>
            <a:ext cx="1109167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100">
                <a:solidFill>
                  <a:srgbClr val="6E5F7D"/>
                </a:solidFill>
              </a:defRPr>
            </a:lvl1pPr>
          </a:lstStyle>
          <a:p>
            <a:pPr/>
            <a:r>
              <a:t>12 principal entities identified from requirement analysis — attributes and functional dependencies follow in Review 2.</a:t>
            </a:r>
          </a:p>
        </p:txBody>
      </p:sp>
      <p:sp>
        <p:nvSpPr>
          <p:cNvPr id="204" name="Text 30"/>
          <p:cNvSpPr txBox="1"/>
          <p:nvPr/>
        </p:nvSpPr>
        <p:spPr>
          <a:xfrm>
            <a:off x="457200" y="6611619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DBMS Project-Based Learning  ·  Project 02  ·  Review 1</a:t>
            </a:r>
          </a:p>
        </p:txBody>
      </p:sp>
      <p:sp>
        <p:nvSpPr>
          <p:cNvPr id="205" name="Text 31"/>
          <p:cNvSpPr txBox="1"/>
          <p:nvPr/>
        </p:nvSpPr>
        <p:spPr>
          <a:xfrm>
            <a:off x="11457431" y="6611619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384047"/>
            <a:ext cx="777241" cy="777242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ext 0"/>
          <p:cNvSpPr txBox="1"/>
          <p:nvPr/>
        </p:nvSpPr>
        <p:spPr>
          <a:xfrm>
            <a:off x="1371600" y="551179"/>
            <a:ext cx="100584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ER Diagram — Key Relationships</a:t>
            </a:r>
          </a:p>
        </p:txBody>
      </p:sp>
      <p:sp>
        <p:nvSpPr>
          <p:cNvPr id="209" name="Shape 1"/>
          <p:cNvSpPr/>
          <p:nvPr/>
        </p:nvSpPr>
        <p:spPr>
          <a:xfrm>
            <a:off x="3428999" y="1783079"/>
            <a:ext cx="1" cy="1645922"/>
          </a:xfrm>
          <a:prstGeom prst="line">
            <a:avLst/>
          </a:prstGeom>
          <a:ln w="15875">
            <a:solidFill>
              <a:srgbClr val="8E7A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Shape 2"/>
          <p:cNvSpPr/>
          <p:nvPr/>
        </p:nvSpPr>
        <p:spPr>
          <a:xfrm>
            <a:off x="1234439" y="3429000"/>
            <a:ext cx="2194561" cy="0"/>
          </a:xfrm>
          <a:prstGeom prst="line">
            <a:avLst/>
          </a:prstGeom>
          <a:ln w="15875">
            <a:solidFill>
              <a:srgbClr val="8E7A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Shape 3"/>
          <p:cNvSpPr/>
          <p:nvPr/>
        </p:nvSpPr>
        <p:spPr>
          <a:xfrm>
            <a:off x="1234440" y="3428999"/>
            <a:ext cx="2194560" cy="1645921"/>
          </a:xfrm>
          <a:prstGeom prst="line">
            <a:avLst/>
          </a:prstGeom>
          <a:ln w="15875">
            <a:solidFill>
              <a:srgbClr val="8E7A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Shape 4"/>
          <p:cNvSpPr/>
          <p:nvPr/>
        </p:nvSpPr>
        <p:spPr>
          <a:xfrm>
            <a:off x="3429000" y="3428999"/>
            <a:ext cx="0" cy="1645921"/>
          </a:xfrm>
          <a:prstGeom prst="line">
            <a:avLst/>
          </a:prstGeom>
          <a:ln w="15875">
            <a:solidFill>
              <a:srgbClr val="8E7A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Shape 5"/>
          <p:cNvSpPr/>
          <p:nvPr/>
        </p:nvSpPr>
        <p:spPr>
          <a:xfrm>
            <a:off x="3429000" y="3428999"/>
            <a:ext cx="1574176" cy="1"/>
          </a:xfrm>
          <a:prstGeom prst="line">
            <a:avLst/>
          </a:prstGeom>
          <a:ln w="15875">
            <a:solidFill>
              <a:srgbClr val="8E7A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Shape 6"/>
          <p:cNvSpPr/>
          <p:nvPr/>
        </p:nvSpPr>
        <p:spPr>
          <a:xfrm>
            <a:off x="5623559" y="3429000"/>
            <a:ext cx="2194561" cy="0"/>
          </a:xfrm>
          <a:prstGeom prst="line">
            <a:avLst/>
          </a:prstGeom>
          <a:ln w="15875">
            <a:solidFill>
              <a:srgbClr val="8E7A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Shape 7"/>
          <p:cNvSpPr/>
          <p:nvPr/>
        </p:nvSpPr>
        <p:spPr>
          <a:xfrm>
            <a:off x="6222377" y="3429000"/>
            <a:ext cx="1595743" cy="0"/>
          </a:xfrm>
          <a:prstGeom prst="line">
            <a:avLst/>
          </a:prstGeom>
          <a:ln w="15875">
            <a:solidFill>
              <a:srgbClr val="8E7A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Shape 8"/>
          <p:cNvSpPr/>
          <p:nvPr/>
        </p:nvSpPr>
        <p:spPr>
          <a:xfrm>
            <a:off x="7818119" y="3428999"/>
            <a:ext cx="1" cy="1645921"/>
          </a:xfrm>
          <a:prstGeom prst="line">
            <a:avLst/>
          </a:prstGeom>
          <a:ln w="15875">
            <a:solidFill>
              <a:srgbClr val="8E7A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Shape 9"/>
          <p:cNvSpPr/>
          <p:nvPr/>
        </p:nvSpPr>
        <p:spPr>
          <a:xfrm>
            <a:off x="7818120" y="3428999"/>
            <a:ext cx="1934766" cy="1129539"/>
          </a:xfrm>
          <a:prstGeom prst="line">
            <a:avLst/>
          </a:prstGeom>
          <a:ln w="15875">
            <a:solidFill>
              <a:srgbClr val="8E7A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Shape 10"/>
          <p:cNvSpPr/>
          <p:nvPr/>
        </p:nvSpPr>
        <p:spPr>
          <a:xfrm>
            <a:off x="7818119" y="3429000"/>
            <a:ext cx="2194561" cy="0"/>
          </a:xfrm>
          <a:prstGeom prst="line">
            <a:avLst/>
          </a:prstGeom>
          <a:ln w="15875">
            <a:solidFill>
              <a:srgbClr val="8E7A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Shape 11"/>
          <p:cNvSpPr/>
          <p:nvPr/>
        </p:nvSpPr>
        <p:spPr>
          <a:xfrm>
            <a:off x="7818120" y="1783079"/>
            <a:ext cx="2194560" cy="1645922"/>
          </a:xfrm>
          <a:prstGeom prst="line">
            <a:avLst/>
          </a:prstGeom>
          <a:ln w="15875">
            <a:solidFill>
              <a:srgbClr val="8E7A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Shape 12"/>
          <p:cNvSpPr/>
          <p:nvPr/>
        </p:nvSpPr>
        <p:spPr>
          <a:xfrm>
            <a:off x="10012680" y="1783079"/>
            <a:ext cx="1" cy="1645921"/>
          </a:xfrm>
          <a:prstGeom prst="line">
            <a:avLst/>
          </a:prstGeom>
          <a:ln w="15875">
            <a:solidFill>
              <a:srgbClr val="8E7A9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Shape 13"/>
          <p:cNvSpPr/>
          <p:nvPr/>
        </p:nvSpPr>
        <p:spPr>
          <a:xfrm>
            <a:off x="2563658" y="1369037"/>
            <a:ext cx="1463041" cy="502921"/>
          </a:xfrm>
          <a:prstGeom prst="roundRect">
            <a:avLst>
              <a:gd name="adj" fmla="val 9091"/>
            </a:avLst>
          </a:prstGeom>
          <a:solidFill>
            <a:srgbClr val="35194F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" name="Text 14"/>
          <p:cNvSpPr txBox="1"/>
          <p:nvPr/>
        </p:nvSpPr>
        <p:spPr>
          <a:xfrm>
            <a:off x="2563658" y="1551962"/>
            <a:ext cx="14630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Publishers</a:t>
            </a:r>
          </a:p>
        </p:txBody>
      </p:sp>
      <p:sp>
        <p:nvSpPr>
          <p:cNvPr id="223" name="Shape 15"/>
          <p:cNvSpPr/>
          <p:nvPr/>
        </p:nvSpPr>
        <p:spPr>
          <a:xfrm>
            <a:off x="502919" y="3177539"/>
            <a:ext cx="1463041" cy="502921"/>
          </a:xfrm>
          <a:prstGeom prst="roundRect">
            <a:avLst>
              <a:gd name="adj" fmla="val 9091"/>
            </a:avLst>
          </a:prstGeom>
          <a:solidFill>
            <a:srgbClr val="35194F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" name="Text 16"/>
          <p:cNvSpPr txBox="1"/>
          <p:nvPr/>
        </p:nvSpPr>
        <p:spPr>
          <a:xfrm>
            <a:off x="502919" y="3360464"/>
            <a:ext cx="14630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Authors</a:t>
            </a:r>
          </a:p>
        </p:txBody>
      </p:sp>
      <p:sp>
        <p:nvSpPr>
          <p:cNvPr id="225" name="Shape 17"/>
          <p:cNvSpPr/>
          <p:nvPr/>
        </p:nvSpPr>
        <p:spPr>
          <a:xfrm>
            <a:off x="406047" y="4820499"/>
            <a:ext cx="1463041" cy="502921"/>
          </a:xfrm>
          <a:prstGeom prst="roundRect">
            <a:avLst>
              <a:gd name="adj" fmla="val 9091"/>
            </a:avLst>
          </a:prstGeom>
          <a:solidFill>
            <a:srgbClr val="35194F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" name="Text 18"/>
          <p:cNvSpPr txBox="1"/>
          <p:nvPr/>
        </p:nvSpPr>
        <p:spPr>
          <a:xfrm>
            <a:off x="282755" y="4963566"/>
            <a:ext cx="14630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Categories</a:t>
            </a:r>
          </a:p>
        </p:txBody>
      </p:sp>
      <p:sp>
        <p:nvSpPr>
          <p:cNvPr id="227" name="Shape 19"/>
          <p:cNvSpPr/>
          <p:nvPr/>
        </p:nvSpPr>
        <p:spPr>
          <a:xfrm>
            <a:off x="2697479" y="3177539"/>
            <a:ext cx="1463041" cy="502921"/>
          </a:xfrm>
          <a:prstGeom prst="roundRect">
            <a:avLst>
              <a:gd name="adj" fmla="val 9091"/>
            </a:avLst>
          </a:prstGeom>
          <a:solidFill>
            <a:srgbClr val="35194F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" name="Text 20"/>
          <p:cNvSpPr txBox="1"/>
          <p:nvPr/>
        </p:nvSpPr>
        <p:spPr>
          <a:xfrm>
            <a:off x="2697479" y="3360464"/>
            <a:ext cx="14630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Books</a:t>
            </a:r>
          </a:p>
        </p:txBody>
      </p:sp>
      <p:sp>
        <p:nvSpPr>
          <p:cNvPr id="229" name="Shape 21"/>
          <p:cNvSpPr/>
          <p:nvPr/>
        </p:nvSpPr>
        <p:spPr>
          <a:xfrm>
            <a:off x="2752344" y="4803117"/>
            <a:ext cx="1463040" cy="502921"/>
          </a:xfrm>
          <a:prstGeom prst="roundRect">
            <a:avLst>
              <a:gd name="adj" fmla="val 9091"/>
            </a:avLst>
          </a:prstGeom>
          <a:solidFill>
            <a:srgbClr val="35194F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" name="Text 22"/>
          <p:cNvSpPr txBox="1"/>
          <p:nvPr/>
        </p:nvSpPr>
        <p:spPr>
          <a:xfrm>
            <a:off x="2693511" y="4986042"/>
            <a:ext cx="14630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Editions</a:t>
            </a:r>
          </a:p>
        </p:txBody>
      </p:sp>
      <p:sp>
        <p:nvSpPr>
          <p:cNvPr id="231" name="Shape 23"/>
          <p:cNvSpPr/>
          <p:nvPr/>
        </p:nvSpPr>
        <p:spPr>
          <a:xfrm>
            <a:off x="4892040" y="3177539"/>
            <a:ext cx="1463041" cy="502921"/>
          </a:xfrm>
          <a:prstGeom prst="roundRect">
            <a:avLst>
              <a:gd name="adj" fmla="val 9091"/>
            </a:avLst>
          </a:prstGeom>
          <a:solidFill>
            <a:srgbClr val="35194F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" name="Text 24"/>
          <p:cNvSpPr txBox="1"/>
          <p:nvPr/>
        </p:nvSpPr>
        <p:spPr>
          <a:xfrm>
            <a:off x="4892040" y="3360464"/>
            <a:ext cx="14630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Copies</a:t>
            </a:r>
          </a:p>
        </p:txBody>
      </p:sp>
      <p:sp>
        <p:nvSpPr>
          <p:cNvPr id="233" name="Shape 25"/>
          <p:cNvSpPr/>
          <p:nvPr/>
        </p:nvSpPr>
        <p:spPr>
          <a:xfrm>
            <a:off x="7086600" y="1531619"/>
            <a:ext cx="1463040" cy="502921"/>
          </a:xfrm>
          <a:prstGeom prst="roundRect">
            <a:avLst>
              <a:gd name="adj" fmla="val 9091"/>
            </a:avLst>
          </a:prstGeom>
          <a:solidFill>
            <a:srgbClr val="0E8388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" name="Text 26"/>
          <p:cNvSpPr txBox="1"/>
          <p:nvPr/>
        </p:nvSpPr>
        <p:spPr>
          <a:xfrm>
            <a:off x="7086600" y="1714544"/>
            <a:ext cx="14630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Reservations</a:t>
            </a:r>
          </a:p>
        </p:txBody>
      </p:sp>
      <p:sp>
        <p:nvSpPr>
          <p:cNvPr id="235" name="Shape 27"/>
          <p:cNvSpPr/>
          <p:nvPr/>
        </p:nvSpPr>
        <p:spPr>
          <a:xfrm>
            <a:off x="7086600" y="3177539"/>
            <a:ext cx="1463040" cy="502921"/>
          </a:xfrm>
          <a:prstGeom prst="roundRect">
            <a:avLst>
              <a:gd name="adj" fmla="val 9091"/>
            </a:avLst>
          </a:prstGeom>
          <a:solidFill>
            <a:srgbClr val="0E8388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" name="Text 28"/>
          <p:cNvSpPr txBox="1"/>
          <p:nvPr/>
        </p:nvSpPr>
        <p:spPr>
          <a:xfrm>
            <a:off x="7086600" y="3360464"/>
            <a:ext cx="14630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Issues</a:t>
            </a:r>
          </a:p>
        </p:txBody>
      </p:sp>
      <p:sp>
        <p:nvSpPr>
          <p:cNvPr id="237" name="Shape 29"/>
          <p:cNvSpPr/>
          <p:nvPr/>
        </p:nvSpPr>
        <p:spPr>
          <a:xfrm>
            <a:off x="7086600" y="4823459"/>
            <a:ext cx="1463040" cy="502921"/>
          </a:xfrm>
          <a:prstGeom prst="roundRect">
            <a:avLst>
              <a:gd name="adj" fmla="val 9091"/>
            </a:avLst>
          </a:prstGeom>
          <a:solidFill>
            <a:srgbClr val="0E8388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" name="Text 30"/>
          <p:cNvSpPr txBox="1"/>
          <p:nvPr/>
        </p:nvSpPr>
        <p:spPr>
          <a:xfrm>
            <a:off x="7086600" y="5006383"/>
            <a:ext cx="14630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Returns</a:t>
            </a:r>
          </a:p>
        </p:txBody>
      </p:sp>
      <p:sp>
        <p:nvSpPr>
          <p:cNvPr id="239" name="Shape 31"/>
          <p:cNvSpPr/>
          <p:nvPr/>
        </p:nvSpPr>
        <p:spPr>
          <a:xfrm>
            <a:off x="9281159" y="1531619"/>
            <a:ext cx="1463041" cy="502921"/>
          </a:xfrm>
          <a:prstGeom prst="roundRect">
            <a:avLst>
              <a:gd name="adj" fmla="val 9091"/>
            </a:avLst>
          </a:prstGeom>
          <a:solidFill>
            <a:srgbClr val="0E8388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" name="Text 32"/>
          <p:cNvSpPr txBox="1"/>
          <p:nvPr/>
        </p:nvSpPr>
        <p:spPr>
          <a:xfrm>
            <a:off x="9281159" y="1631994"/>
            <a:ext cx="146304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Digital Access</a:t>
            </a:r>
          </a:p>
          <a:p>
            <a:pPr algn="ctr">
              <a:defRPr b="1" sz="1000">
                <a:solidFill>
                  <a:srgbClr val="FFFFFF"/>
                </a:solidFill>
              </a:defRPr>
            </a:pPr>
            <a:r>
              <a:t>Logs</a:t>
            </a:r>
          </a:p>
        </p:txBody>
      </p:sp>
      <p:sp>
        <p:nvSpPr>
          <p:cNvPr id="241" name="Shape 33"/>
          <p:cNvSpPr/>
          <p:nvPr/>
        </p:nvSpPr>
        <p:spPr>
          <a:xfrm>
            <a:off x="9281159" y="3177539"/>
            <a:ext cx="1463041" cy="502921"/>
          </a:xfrm>
          <a:prstGeom prst="roundRect">
            <a:avLst>
              <a:gd name="adj" fmla="val 9091"/>
            </a:avLst>
          </a:prstGeom>
          <a:solidFill>
            <a:srgbClr val="0E8388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" name="Text 34"/>
          <p:cNvSpPr txBox="1"/>
          <p:nvPr/>
        </p:nvSpPr>
        <p:spPr>
          <a:xfrm>
            <a:off x="9281159" y="3360464"/>
            <a:ext cx="14630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Members</a:t>
            </a:r>
          </a:p>
        </p:txBody>
      </p:sp>
      <p:sp>
        <p:nvSpPr>
          <p:cNvPr id="243" name="Shape 35"/>
          <p:cNvSpPr/>
          <p:nvPr/>
        </p:nvSpPr>
        <p:spPr>
          <a:xfrm>
            <a:off x="9686262" y="4339098"/>
            <a:ext cx="1463041" cy="502921"/>
          </a:xfrm>
          <a:prstGeom prst="roundRect">
            <a:avLst>
              <a:gd name="adj" fmla="val 9091"/>
            </a:avLst>
          </a:prstGeom>
          <a:solidFill>
            <a:srgbClr val="0E8388"/>
          </a:solidFill>
          <a:ln w="12700">
            <a:miter lim="400000"/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" name="Text 36"/>
          <p:cNvSpPr txBox="1"/>
          <p:nvPr/>
        </p:nvSpPr>
        <p:spPr>
          <a:xfrm>
            <a:off x="9774328" y="4522022"/>
            <a:ext cx="14630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Fines</a:t>
            </a:r>
          </a:p>
        </p:txBody>
      </p:sp>
      <p:sp>
        <p:nvSpPr>
          <p:cNvPr id="245" name="Shape 37"/>
          <p:cNvSpPr/>
          <p:nvPr/>
        </p:nvSpPr>
        <p:spPr>
          <a:xfrm>
            <a:off x="548640" y="5532120"/>
            <a:ext cx="201169" cy="201169"/>
          </a:xfrm>
          <a:prstGeom prst="rect">
            <a:avLst/>
          </a:prstGeom>
          <a:solidFill>
            <a:srgbClr val="35194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38"/>
          <p:cNvSpPr txBox="1"/>
          <p:nvPr/>
        </p:nvSpPr>
        <p:spPr>
          <a:xfrm>
            <a:off x="822960" y="5565569"/>
            <a:ext cx="237744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41536"/>
                </a:solidFill>
              </a:defRPr>
            </a:lvl1pPr>
          </a:lstStyle>
          <a:p>
            <a:pPr/>
            <a:r>
              <a:t>Catalog Subsystem</a:t>
            </a:r>
          </a:p>
        </p:txBody>
      </p:sp>
      <p:sp>
        <p:nvSpPr>
          <p:cNvPr id="247" name="Shape 39"/>
          <p:cNvSpPr/>
          <p:nvPr/>
        </p:nvSpPr>
        <p:spPr>
          <a:xfrm>
            <a:off x="3383279" y="5532120"/>
            <a:ext cx="201169" cy="201169"/>
          </a:xfrm>
          <a:prstGeom prst="rect">
            <a:avLst/>
          </a:prstGeom>
          <a:solidFill>
            <a:srgbClr val="0E83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Text 40"/>
          <p:cNvSpPr txBox="1"/>
          <p:nvPr/>
        </p:nvSpPr>
        <p:spPr>
          <a:xfrm>
            <a:off x="3657600" y="5565569"/>
            <a:ext cx="27432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241536"/>
                </a:solidFill>
              </a:defRPr>
            </a:lvl1pPr>
          </a:lstStyle>
          <a:p>
            <a:pPr/>
            <a:r>
              <a:t>Circulation Subsystem</a:t>
            </a:r>
          </a:p>
        </p:txBody>
      </p:sp>
      <p:sp>
        <p:nvSpPr>
          <p:cNvPr id="249" name="Text 41"/>
          <p:cNvSpPr txBox="1"/>
          <p:nvPr/>
        </p:nvSpPr>
        <p:spPr>
          <a:xfrm>
            <a:off x="548640" y="6053371"/>
            <a:ext cx="1109167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6E5F7D"/>
                </a:solidFill>
              </a:defRPr>
            </a:lvl1pPr>
          </a:lstStyle>
          <a:p>
            <a:pPr/>
            <a:r>
              <a:t>Lines denote primary relationships (typically 1:M from the parent entity). Many-to-many links, e.g. Books–Authors, are resolved via junction tables during 3NF normalization in Review 2.</a:t>
            </a:r>
          </a:p>
        </p:txBody>
      </p:sp>
      <p:sp>
        <p:nvSpPr>
          <p:cNvPr id="250" name="Text 42"/>
          <p:cNvSpPr txBox="1"/>
          <p:nvPr/>
        </p:nvSpPr>
        <p:spPr>
          <a:xfrm>
            <a:off x="457200" y="6611619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DBMS Project-Based Learning  ·  Project 02  ·  Review 1</a:t>
            </a:r>
          </a:p>
        </p:txBody>
      </p:sp>
      <p:sp>
        <p:nvSpPr>
          <p:cNvPr id="251" name="Text 43"/>
          <p:cNvSpPr txBox="1"/>
          <p:nvPr/>
        </p:nvSpPr>
        <p:spPr>
          <a:xfrm>
            <a:off x="11457431" y="6611619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52" name="Line"/>
          <p:cNvSpPr/>
          <p:nvPr/>
        </p:nvSpPr>
        <p:spPr>
          <a:xfrm>
            <a:off x="1913001" y="5092699"/>
            <a:ext cx="837439" cy="1"/>
          </a:xfrm>
          <a:prstGeom prst="line">
            <a:avLst/>
          </a:prstGeom>
          <a:ln w="15875">
            <a:solidFill>
              <a:srgbClr val="8E7A9E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384047"/>
            <a:ext cx="777241" cy="777242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Text 0"/>
          <p:cNvSpPr txBox="1"/>
          <p:nvPr/>
        </p:nvSpPr>
        <p:spPr>
          <a:xfrm>
            <a:off x="1371600" y="551179"/>
            <a:ext cx="100584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Initial Relational Schema</a:t>
            </a:r>
          </a:p>
        </p:txBody>
      </p:sp>
      <p:graphicFrame>
        <p:nvGraphicFramePr>
          <p:cNvPr id="256" name="Table 0"/>
          <p:cNvGraphicFramePr/>
          <p:nvPr/>
        </p:nvGraphicFramePr>
        <p:xfrm>
          <a:off x="548640" y="1417319"/>
          <a:ext cx="11091672" cy="433883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194560"/>
                <a:gridCol w="2743200"/>
                <a:gridCol w="6153912"/>
              </a:tblGrid>
              <a:tr h="3337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3519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Primary Key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3519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Key Relationships (Foreign Keys)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35194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5194F"/>
                          </a:solidFill>
                        </a:rPr>
                        <a:t>Publishers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publisher_id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Referenced by Books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5194F"/>
                          </a:solidFill>
                        </a:rPr>
                        <a:t>Authors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author_id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Referenced by Books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5194F"/>
                          </a:solidFill>
                        </a:rPr>
                        <a:t>Categories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category_id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Referenced by Books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5194F"/>
                          </a:solidFill>
                        </a:rPr>
                        <a:t>Books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book_id (ISBN, unique)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FK → publisher_id, category_id; referenced by Editions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5194F"/>
                          </a:solidFill>
                        </a:rPr>
                        <a:t>Editions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edition_id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FK → book_id; referenced by Copies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5194F"/>
                          </a:solidFill>
                        </a:rPr>
                        <a:t>Copies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copy_id (accession no., unique)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FK → edition_id; referenced by Issues, Reservations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5194F"/>
                          </a:solidFill>
                        </a:rPr>
                        <a:t>Members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member_id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Referenced by Issues, Reservations, Fines, Digital Access Logs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5194F"/>
                          </a:solidFill>
                        </a:rPr>
                        <a:t>Issues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issue_id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FK → copy_id, member_id; referenced by Returns, Fines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5194F"/>
                          </a:solidFill>
                        </a:rPr>
                        <a:t>Returns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return_id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FK → issue_id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5194F"/>
                          </a:solidFill>
                        </a:rPr>
                        <a:t>Reservations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reservation_id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FK → copy_id, member_id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5194F"/>
                          </a:solidFill>
                        </a:rPr>
                        <a:t>Fines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fine_id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FK → issue_id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35194F"/>
                          </a:solidFill>
                        </a:rPr>
                        <a:t>Digital Access Logs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log_id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41536"/>
                          </a:solidFill>
                        </a:rPr>
                        <a:t>FK → member_id</a:t>
                      </a:r>
                    </a:p>
                  </a:txBody>
                  <a:tcPr marL="25400" marR="25400" marT="25400" marB="25400" anchor="ctr" anchorCtr="0" horzOverflow="overflow">
                    <a:lnL>
                      <a:solidFill>
                        <a:srgbClr val="DFD4EA"/>
                      </a:solidFill>
                    </a:lnL>
                    <a:lnR>
                      <a:solidFill>
                        <a:srgbClr val="DFD4EA"/>
                      </a:solidFill>
                    </a:lnR>
                    <a:lnT>
                      <a:solidFill>
                        <a:srgbClr val="DFD4EA"/>
                      </a:solidFill>
                    </a:lnT>
                    <a:lnB>
                      <a:solidFill>
                        <a:srgbClr val="DFD4EA"/>
                      </a:solidFill>
                    </a:lnB>
                    <a:solidFill>
                      <a:srgbClr val="F3EFF8"/>
                    </a:solidFill>
                  </a:tcPr>
                </a:tc>
              </a:tr>
            </a:tbl>
          </a:graphicData>
        </a:graphic>
      </p:graphicFrame>
      <p:sp>
        <p:nvSpPr>
          <p:cNvPr id="257" name="Text 1"/>
          <p:cNvSpPr txBox="1"/>
          <p:nvPr/>
        </p:nvSpPr>
        <p:spPr>
          <a:xfrm>
            <a:off x="548640" y="6105066"/>
            <a:ext cx="1109167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6E5F7D"/>
                </a:solidFill>
              </a:defRPr>
            </a:lvl1pPr>
          </a:lstStyle>
          <a:p>
            <a:pPr/>
            <a:r>
              <a:t>Many-to-many links (e.g., Books ↔ Authors) will be resolved into junction tables during 3NF normalization in Review 2.</a:t>
            </a:r>
          </a:p>
        </p:txBody>
      </p:sp>
      <p:sp>
        <p:nvSpPr>
          <p:cNvPr id="258" name="Text 2"/>
          <p:cNvSpPr txBox="1"/>
          <p:nvPr/>
        </p:nvSpPr>
        <p:spPr>
          <a:xfrm>
            <a:off x="457200" y="6611619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DBMS Project-Based Learning  ·  Project 02  ·  Review 1</a:t>
            </a:r>
          </a:p>
        </p:txBody>
      </p:sp>
      <p:sp>
        <p:nvSpPr>
          <p:cNvPr id="259" name="Text 3"/>
          <p:cNvSpPr txBox="1"/>
          <p:nvPr/>
        </p:nvSpPr>
        <p:spPr>
          <a:xfrm>
            <a:off x="11457431" y="6611619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384047"/>
            <a:ext cx="777241" cy="777242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Text 0"/>
          <p:cNvSpPr txBox="1"/>
          <p:nvPr/>
        </p:nvSpPr>
        <p:spPr>
          <a:xfrm>
            <a:off x="1371600" y="551179"/>
            <a:ext cx="100584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Project Planning — Timeline</a:t>
            </a:r>
          </a:p>
        </p:txBody>
      </p:sp>
      <p:sp>
        <p:nvSpPr>
          <p:cNvPr id="263" name="Text 1"/>
          <p:cNvSpPr txBox="1"/>
          <p:nvPr/>
        </p:nvSpPr>
        <p:spPr>
          <a:xfrm>
            <a:off x="548640" y="1311078"/>
            <a:ext cx="109728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6E5F7D"/>
                </a:solidFill>
              </a:defRPr>
            </a:lvl1pPr>
          </a:lstStyle>
          <a:p>
            <a:pPr/>
            <a:r>
              <a:t>A 16-week phased plan aligned to the course review schedule</a:t>
            </a:r>
          </a:p>
        </p:txBody>
      </p:sp>
      <p:sp>
        <p:nvSpPr>
          <p:cNvPr id="264" name="Shape 2"/>
          <p:cNvSpPr/>
          <p:nvPr/>
        </p:nvSpPr>
        <p:spPr>
          <a:xfrm>
            <a:off x="914399" y="3017520"/>
            <a:ext cx="10332722" cy="1"/>
          </a:xfrm>
          <a:prstGeom prst="line">
            <a:avLst/>
          </a:prstGeom>
          <a:ln w="25400">
            <a:solidFill>
              <a:srgbClr val="D9CCE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Shape 3"/>
          <p:cNvSpPr/>
          <p:nvPr/>
        </p:nvSpPr>
        <p:spPr>
          <a:xfrm>
            <a:off x="1252727" y="2898648"/>
            <a:ext cx="237746" cy="237745"/>
          </a:xfrm>
          <a:prstGeom prst="ellipse">
            <a:avLst/>
          </a:prstGeom>
          <a:solidFill>
            <a:srgbClr val="35194F"/>
          </a:solidFill>
          <a:ln w="190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Text 4"/>
          <p:cNvSpPr txBox="1"/>
          <p:nvPr/>
        </p:nvSpPr>
        <p:spPr>
          <a:xfrm>
            <a:off x="777240" y="2305049"/>
            <a:ext cx="118872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Wk 3</a:t>
            </a:r>
          </a:p>
        </p:txBody>
      </p:sp>
      <p:sp>
        <p:nvSpPr>
          <p:cNvPr id="267" name="Text 5"/>
          <p:cNvSpPr txBox="1"/>
          <p:nvPr/>
        </p:nvSpPr>
        <p:spPr>
          <a:xfrm>
            <a:off x="548639" y="3310128"/>
            <a:ext cx="1645922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6E5F7D"/>
                </a:solidFill>
              </a:defRPr>
            </a:lvl1pPr>
          </a:lstStyle>
          <a:p>
            <a:pPr/>
            <a:r>
              <a:t>Programming assessments begin</a:t>
            </a:r>
          </a:p>
        </p:txBody>
      </p:sp>
      <p:sp>
        <p:nvSpPr>
          <p:cNvPr id="268" name="Shape 6"/>
          <p:cNvSpPr/>
          <p:nvPr/>
        </p:nvSpPr>
        <p:spPr>
          <a:xfrm>
            <a:off x="3072383" y="2834639"/>
            <a:ext cx="365761" cy="365761"/>
          </a:xfrm>
          <a:prstGeom prst="ellipse">
            <a:avLst/>
          </a:prstGeom>
          <a:solidFill>
            <a:srgbClr val="D4AF37"/>
          </a:solidFill>
          <a:ln w="254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Text 7"/>
          <p:cNvSpPr txBox="1"/>
          <p:nvPr/>
        </p:nvSpPr>
        <p:spPr>
          <a:xfrm>
            <a:off x="2660904" y="2305049"/>
            <a:ext cx="11887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D4AF3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Wk 7</a:t>
            </a:r>
          </a:p>
        </p:txBody>
      </p:sp>
      <p:sp>
        <p:nvSpPr>
          <p:cNvPr id="270" name="Text 8"/>
          <p:cNvSpPr txBox="1"/>
          <p:nvPr/>
        </p:nvSpPr>
        <p:spPr>
          <a:xfrm>
            <a:off x="2432304" y="3310128"/>
            <a:ext cx="164592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35194F"/>
                </a:solidFill>
              </a:defRPr>
            </a:lvl1pPr>
          </a:lstStyle>
          <a:p>
            <a:pPr/>
            <a:r>
              <a:t>Review 1 — you are here</a:t>
            </a:r>
          </a:p>
        </p:txBody>
      </p:sp>
      <p:sp>
        <p:nvSpPr>
          <p:cNvPr id="271" name="Shape 9"/>
          <p:cNvSpPr/>
          <p:nvPr/>
        </p:nvSpPr>
        <p:spPr>
          <a:xfrm>
            <a:off x="5020055" y="2898648"/>
            <a:ext cx="237745" cy="237745"/>
          </a:xfrm>
          <a:prstGeom prst="ellipse">
            <a:avLst/>
          </a:prstGeom>
          <a:solidFill>
            <a:srgbClr val="35194F"/>
          </a:solidFill>
          <a:ln w="190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10"/>
          <p:cNvSpPr txBox="1"/>
          <p:nvPr/>
        </p:nvSpPr>
        <p:spPr>
          <a:xfrm>
            <a:off x="4544567" y="2305049"/>
            <a:ext cx="11887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Wk 11</a:t>
            </a:r>
          </a:p>
        </p:txBody>
      </p:sp>
      <p:sp>
        <p:nvSpPr>
          <p:cNvPr id="273" name="Text 11"/>
          <p:cNvSpPr txBox="1"/>
          <p:nvPr/>
        </p:nvSpPr>
        <p:spPr>
          <a:xfrm>
            <a:off x="4315967" y="3310128"/>
            <a:ext cx="164592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6E5F7D"/>
                </a:solidFill>
              </a:defRPr>
            </a:lvl1pPr>
          </a:lstStyle>
          <a:p>
            <a:pPr/>
            <a:r>
              <a:t>Review 2</a:t>
            </a:r>
          </a:p>
        </p:txBody>
      </p:sp>
      <p:sp>
        <p:nvSpPr>
          <p:cNvPr id="274" name="Shape 12"/>
          <p:cNvSpPr/>
          <p:nvPr/>
        </p:nvSpPr>
        <p:spPr>
          <a:xfrm>
            <a:off x="6903719" y="2898648"/>
            <a:ext cx="237745" cy="237745"/>
          </a:xfrm>
          <a:prstGeom prst="ellipse">
            <a:avLst/>
          </a:prstGeom>
          <a:solidFill>
            <a:srgbClr val="35194F"/>
          </a:solidFill>
          <a:ln w="190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Text 13"/>
          <p:cNvSpPr txBox="1"/>
          <p:nvPr/>
        </p:nvSpPr>
        <p:spPr>
          <a:xfrm>
            <a:off x="6428232" y="2305049"/>
            <a:ext cx="11887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Wk 14</a:t>
            </a:r>
          </a:p>
        </p:txBody>
      </p:sp>
      <p:sp>
        <p:nvSpPr>
          <p:cNvPr id="276" name="Text 14"/>
          <p:cNvSpPr txBox="1"/>
          <p:nvPr/>
        </p:nvSpPr>
        <p:spPr>
          <a:xfrm>
            <a:off x="6199632" y="3310128"/>
            <a:ext cx="164592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6E5F7D"/>
                </a:solidFill>
              </a:defRPr>
            </a:lvl1pPr>
          </a:lstStyle>
          <a:p>
            <a:pPr/>
            <a:r>
              <a:t>Assessments conclude</a:t>
            </a:r>
          </a:p>
        </p:txBody>
      </p:sp>
      <p:sp>
        <p:nvSpPr>
          <p:cNvPr id="277" name="Shape 15"/>
          <p:cNvSpPr/>
          <p:nvPr/>
        </p:nvSpPr>
        <p:spPr>
          <a:xfrm>
            <a:off x="8787383" y="2898648"/>
            <a:ext cx="237745" cy="237745"/>
          </a:xfrm>
          <a:prstGeom prst="ellipse">
            <a:avLst/>
          </a:prstGeom>
          <a:solidFill>
            <a:srgbClr val="35194F"/>
          </a:solidFill>
          <a:ln w="190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Text 16"/>
          <p:cNvSpPr txBox="1"/>
          <p:nvPr/>
        </p:nvSpPr>
        <p:spPr>
          <a:xfrm>
            <a:off x="8311895" y="2305049"/>
            <a:ext cx="11887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Wk 15</a:t>
            </a:r>
          </a:p>
        </p:txBody>
      </p:sp>
      <p:sp>
        <p:nvSpPr>
          <p:cNvPr id="279" name="Text 17"/>
          <p:cNvSpPr txBox="1"/>
          <p:nvPr/>
        </p:nvSpPr>
        <p:spPr>
          <a:xfrm>
            <a:off x="8083295" y="3310128"/>
            <a:ext cx="164592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6E5F7D"/>
                </a:solidFill>
              </a:defRPr>
            </a:lvl1pPr>
          </a:lstStyle>
          <a:p>
            <a:pPr/>
            <a:r>
              <a:t>Certificates &amp; submission</a:t>
            </a:r>
          </a:p>
        </p:txBody>
      </p:sp>
      <p:sp>
        <p:nvSpPr>
          <p:cNvPr id="280" name="Shape 18"/>
          <p:cNvSpPr/>
          <p:nvPr/>
        </p:nvSpPr>
        <p:spPr>
          <a:xfrm>
            <a:off x="10671047" y="2898648"/>
            <a:ext cx="237745" cy="237745"/>
          </a:xfrm>
          <a:prstGeom prst="ellipse">
            <a:avLst/>
          </a:prstGeom>
          <a:solidFill>
            <a:srgbClr val="35194F"/>
          </a:solidFill>
          <a:ln w="190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Text 19"/>
          <p:cNvSpPr txBox="1"/>
          <p:nvPr/>
        </p:nvSpPr>
        <p:spPr>
          <a:xfrm>
            <a:off x="10195559" y="2305049"/>
            <a:ext cx="11887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Wk 16</a:t>
            </a:r>
          </a:p>
        </p:txBody>
      </p:sp>
      <p:sp>
        <p:nvSpPr>
          <p:cNvPr id="282" name="Text 20"/>
          <p:cNvSpPr txBox="1"/>
          <p:nvPr/>
        </p:nvSpPr>
        <p:spPr>
          <a:xfrm>
            <a:off x="9966959" y="3310128"/>
            <a:ext cx="164592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6E5F7D"/>
                </a:solidFill>
              </a:defRPr>
            </a:lvl1pPr>
          </a:lstStyle>
          <a:p>
            <a:pPr/>
            <a:r>
              <a:t>Review 3 + MOOC — Final</a:t>
            </a:r>
          </a:p>
        </p:txBody>
      </p:sp>
      <p:sp>
        <p:nvSpPr>
          <p:cNvPr id="283" name="Shape 21"/>
          <p:cNvSpPr/>
          <p:nvPr/>
        </p:nvSpPr>
        <p:spPr>
          <a:xfrm>
            <a:off x="914400" y="5074920"/>
            <a:ext cx="10332720" cy="1005841"/>
          </a:xfrm>
          <a:prstGeom prst="roundRect">
            <a:avLst>
              <a:gd name="adj" fmla="val 5455"/>
            </a:avLst>
          </a:prstGeom>
          <a:solidFill>
            <a:srgbClr val="F3EFF8"/>
          </a:solidFill>
          <a:ln w="12700">
            <a:solidFill>
              <a:srgbClr val="35194F"/>
            </a:solidFill>
          </a:ln>
          <a:effectLst>
            <a:outerShdw sx="100000" sy="100000" kx="0" ky="0" algn="b" rotWithShape="0" blurRad="76200" dist="25400" dir="5400000">
              <a:srgbClr val="35194F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" name="Text 22"/>
          <p:cNvSpPr txBox="1"/>
          <p:nvPr/>
        </p:nvSpPr>
        <p:spPr>
          <a:xfrm>
            <a:off x="1188719" y="5404157"/>
            <a:ext cx="978408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35194F"/>
                </a:solidFill>
              </a:defRPr>
            </a:pPr>
            <a:r>
              <a:t>Running throughout:  </a:t>
            </a:r>
            <a:r>
              <a:rPr b="0">
                <a:solidFill>
                  <a:srgbClr val="241536"/>
                </a:solidFill>
              </a:rPr>
              <a:t>LeetCode &amp; HackerRank programming assessments (Weeks 3–14, 5 marks each) and an Online MOOC course (completed by Week 16) run alongside the three project reviews.</a:t>
            </a:r>
          </a:p>
        </p:txBody>
      </p:sp>
      <p:sp>
        <p:nvSpPr>
          <p:cNvPr id="285" name="Text 23"/>
          <p:cNvSpPr txBox="1"/>
          <p:nvPr/>
        </p:nvSpPr>
        <p:spPr>
          <a:xfrm>
            <a:off x="457200" y="6611619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DBMS Project-Based Learning  ·  Project 02  ·  Review 1</a:t>
            </a:r>
          </a:p>
        </p:txBody>
      </p:sp>
      <p:sp>
        <p:nvSpPr>
          <p:cNvPr id="286" name="Text 24"/>
          <p:cNvSpPr txBox="1"/>
          <p:nvPr/>
        </p:nvSpPr>
        <p:spPr>
          <a:xfrm>
            <a:off x="11457431" y="6611619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E5F7D"/>
                </a:solidFill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519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54396" y="502919"/>
            <a:ext cx="1005841" cy="1005841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Text 0"/>
          <p:cNvSpPr txBox="1"/>
          <p:nvPr/>
        </p:nvSpPr>
        <p:spPr>
          <a:xfrm>
            <a:off x="914399" y="1783079"/>
            <a:ext cx="1036015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Summary &amp; Next Steps</a:t>
            </a:r>
          </a:p>
        </p:txBody>
      </p:sp>
      <p:sp>
        <p:nvSpPr>
          <p:cNvPr id="290" name="Shape 1"/>
          <p:cNvSpPr/>
          <p:nvPr/>
        </p:nvSpPr>
        <p:spPr>
          <a:xfrm>
            <a:off x="731519" y="2606039"/>
            <a:ext cx="5212081" cy="3246122"/>
          </a:xfrm>
          <a:prstGeom prst="roundRect">
            <a:avLst>
              <a:gd name="adj" fmla="val 1690"/>
            </a:avLst>
          </a:prstGeom>
          <a:solidFill>
            <a:srgbClr val="44215E"/>
          </a:solidFill>
          <a:ln w="12700">
            <a:solidFill>
              <a:srgbClr val="D4AF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2"/>
          <p:cNvSpPr txBox="1"/>
          <p:nvPr/>
        </p:nvSpPr>
        <p:spPr>
          <a:xfrm>
            <a:off x="1005839" y="2874010"/>
            <a:ext cx="466344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D4AF3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Covered in Review 1</a:t>
            </a:r>
          </a:p>
        </p:txBody>
      </p:sp>
      <p:sp>
        <p:nvSpPr>
          <p:cNvPr id="292" name="Text 3"/>
          <p:cNvSpPr txBox="1"/>
          <p:nvPr/>
        </p:nvSpPr>
        <p:spPr>
          <a:xfrm>
            <a:off x="1005839" y="3291840"/>
            <a:ext cx="4663442" cy="1477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1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Problem identification, scope &amp; objectives</a:t>
            </a:r>
          </a:p>
          <a:p>
            <a:pPr marL="342900" indent="-342900">
              <a:spcBef>
                <a:spcPts val="11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Literature survey of existing approaches</a:t>
            </a:r>
          </a:p>
          <a:p>
            <a:pPr marL="342900" indent="-342900">
              <a:spcBef>
                <a:spcPts val="11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Stakeholders and functional requirements</a:t>
            </a:r>
          </a:p>
          <a:p>
            <a:pPr marL="342900" indent="-342900">
              <a:spcBef>
                <a:spcPts val="11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Conceptual ER design (12 entities)</a:t>
            </a:r>
          </a:p>
          <a:p>
            <a:pPr marL="342900" indent="-342900">
              <a:spcBef>
                <a:spcPts val="11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Initial relational schema (tables &amp; keys)</a:t>
            </a:r>
          </a:p>
        </p:txBody>
      </p:sp>
      <p:sp>
        <p:nvSpPr>
          <p:cNvPr id="293" name="Shape 4"/>
          <p:cNvSpPr/>
          <p:nvPr/>
        </p:nvSpPr>
        <p:spPr>
          <a:xfrm>
            <a:off x="6245352" y="2606039"/>
            <a:ext cx="5212081" cy="3246122"/>
          </a:xfrm>
          <a:prstGeom prst="roundRect">
            <a:avLst>
              <a:gd name="adj" fmla="val 1690"/>
            </a:avLst>
          </a:prstGeom>
          <a:solidFill>
            <a:srgbClr val="D4AF3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Text 5"/>
          <p:cNvSpPr txBox="1"/>
          <p:nvPr/>
        </p:nvSpPr>
        <p:spPr>
          <a:xfrm>
            <a:off x="6519671" y="2874010"/>
            <a:ext cx="466344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35194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Coming in Review 2</a:t>
            </a:r>
          </a:p>
        </p:txBody>
      </p:sp>
      <p:sp>
        <p:nvSpPr>
          <p:cNvPr id="295" name="Text 6"/>
          <p:cNvSpPr txBox="1"/>
          <p:nvPr/>
        </p:nvSpPr>
        <p:spPr>
          <a:xfrm>
            <a:off x="6519671" y="3291840"/>
            <a:ext cx="4663441" cy="1223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300"/>
              </a:spcBef>
              <a:buSzPct val="100000"/>
              <a:buChar char="•"/>
              <a:defRPr sz="1200">
                <a:solidFill>
                  <a:srgbClr val="241536"/>
                </a:solidFill>
              </a:defRPr>
            </a:pPr>
            <a:r>
              <a:t>Normalize schema to 3NF with functional dependencies</a:t>
            </a:r>
          </a:p>
          <a:p>
            <a:pPr marL="342900" indent="-342900">
              <a:spcBef>
                <a:spcPts val="1300"/>
              </a:spcBef>
              <a:buSzPct val="100000"/>
              <a:buChar char="•"/>
              <a:defRPr sz="1200">
                <a:solidFill>
                  <a:srgbClr val="241536"/>
                </a:solidFill>
              </a:defRPr>
            </a:pPr>
            <a:r>
              <a:t>DDL scripts enforcing all integrity constraints</a:t>
            </a:r>
          </a:p>
          <a:p>
            <a:pPr marL="342900" indent="-342900">
              <a:spcBef>
                <a:spcPts val="1300"/>
              </a:spcBef>
              <a:buSzPct val="100000"/>
              <a:buChar char="•"/>
              <a:defRPr sz="1200">
                <a:solidFill>
                  <a:srgbClr val="241536"/>
                </a:solidFill>
              </a:defRPr>
            </a:pPr>
            <a:r>
              <a:t>Sample data &amp; SQL queries (joins, views, reports)</a:t>
            </a:r>
          </a:p>
          <a:p>
            <a:pPr marL="342900" indent="-342900">
              <a:spcBef>
                <a:spcPts val="1300"/>
              </a:spcBef>
              <a:buSzPct val="100000"/>
              <a:buChar char="•"/>
              <a:defRPr sz="1200">
                <a:solidFill>
                  <a:srgbClr val="241536"/>
                </a:solidFill>
              </a:defRPr>
            </a:pPr>
            <a:r>
              <a:t>Working database prototype demonstration</a:t>
            </a:r>
          </a:p>
        </p:txBody>
      </p:sp>
      <p:sp>
        <p:nvSpPr>
          <p:cNvPr id="296" name="Text 7"/>
          <p:cNvSpPr txBox="1"/>
          <p:nvPr/>
        </p:nvSpPr>
        <p:spPr>
          <a:xfrm>
            <a:off x="914399" y="6189979"/>
            <a:ext cx="10360154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>
                <a:solidFill>
                  <a:srgbClr val="D4AF37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