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JetBrains Mono"/>
      <ns0:regular ns1:id="rIdFont20"/>
    </ns0:embeddedFont>
    <ns0:embeddedFont>
      <ns0:font typeface="Plus Jakarta Sans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f61f3057-5ea9-43e3-a92d-a2fdf6ac0ea1.fntdata" /><ns0:Relationship Id="rIdFont21" Type="http://schemas.openxmlformats.org/officeDocument/2006/relationships/font" Target="fonts/a8394bf7-a12e-4924-b8a1-cc829e5f731f.fntdata" /><ns0:Relationship Id="rIdFont22" Type="http://schemas.openxmlformats.org/officeDocument/2006/relationships/font" Target="fonts/7a06ad8e-6157-4f8a-84aa-f7a90f38283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1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710112"/>
            <a:ext cx="685800" cy="38100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85912"/>
            <a:ext cx="723900" cy="723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785937"/>
            <a:ext cx="36195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576512"/>
            <a:ext cx="9901237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750" i="0" u="none">
                <a:solidFill>
                  <a:srgbClr val="FFFFFF"/>
                </a:solidFill>
                <a:latin typeface="Plus Jakarta Sans"/>
              </a:rPr>
              <a:t>Library Circulation &amp; Digital Resource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29062"/>
            <a:ext cx="7905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D8B4FE"/>
                </a:solidFill>
                <a:latin typeface="Plus Jakarta Sans"/>
              </a:rPr>
              <a:t>3NF Schema Design · MySQL Integrity Constraints · Operational SQL Queries · LibraryOS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053012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Himesh Sarvan S  |  25WU0102099  |  B.Tech AIML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2100" y="1728787"/>
            <a:ext cx="49649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4A72C"/>
                </a:solidFill>
                <a:latin typeface="Plus Jakarta Sans"/>
              </a:rPr>
              <a:t>DBMS PROJECT-BASED LEARNING · PROJECT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2100" y="1947862"/>
            <a:ext cx="49649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9D5FF"/>
                </a:solidFill>
                <a:latin typeface="Plus Jakarta Sans"/>
              </a:rPr>
              <a:t>Review 2 — Normalization, SQL DDL &amp;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7172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37172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37172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37172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87667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0425" y="387667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387667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82075" y="3876675"/>
            <a:ext cx="2600325" cy="1333500"/>
          </a:xfrm>
          <a:prstGeom prst="roundRect">
            <a:avLst>
              <a:gd name="adj" fmla="val 857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90550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495300"/>
            <a:ext cx="153769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Agenda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258127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01 · 3NF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2838450"/>
            <a:ext cx="22764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Functional dependencies across 11 core 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9975" y="258127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02 · Final Relational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9975" y="2838450"/>
            <a:ext cx="22764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Primary keys, foreign keys, unique constraints.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8127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03 · SQL DDL Scripts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8450"/>
            <a:ext cx="22764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Enforcing domain rules on Books, Copies, Issues.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1625" y="258127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04 · Business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1625" y="2838450"/>
            <a:ext cx="227647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Max 3 loans, 14-day window, ₹2/day overdue fine.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408622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11042"/>
                </a:solidFill>
                <a:latin typeface="Plus Jakarta Sans"/>
              </a:rPr>
              <a:t>05 · Seed Data Population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" y="4343400"/>
            <a:ext cx="227647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10 titles, 26 physical copies, 5 member accounts.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9975" y="408622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11042"/>
                </a:solidFill>
                <a:latin typeface="Plus Jakarta Sans"/>
              </a:rPr>
              <a:t>06 · Operational SQL Joins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9975" y="4343400"/>
            <a:ext cx="22764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Multi-table joins for availability and overdues.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8622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11042"/>
                </a:solidFill>
                <a:latin typeface="Plus Jakarta Sans"/>
              </a:rPr>
              <a:t>07 · Prototype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43400"/>
            <a:ext cx="22764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Interactive LibraryOS SPA UI and Flask API routes.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1625" y="4086225"/>
            <a:ext cx="2726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11042"/>
                </a:solidFill>
                <a:latin typeface="Plus Jakarta Sans"/>
              </a:rPr>
              <a:t>08 · Progress &amp;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1625" y="4343400"/>
            <a:ext cx="22764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24"/>
                </a:solidFill>
                <a:latin typeface="Plus Jakarta Sans"/>
              </a:rPr>
              <a:t>Week 11 milestone status and Review 3 targets.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2262"/>
            <a:ext cx="3479750" cy="1857375"/>
          </a:xfrm>
          <a:prstGeom prst="roundRect">
            <a:avLst>
              <a:gd name="adj" fmla="val 7179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857500"/>
            <a:ext cx="3479750" cy="1866900"/>
          </a:xfrm>
          <a:prstGeom prst="roundRect">
            <a:avLst>
              <a:gd name="adj" fmla="val 7142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852737"/>
            <a:ext cx="3479750" cy="1876425"/>
          </a:xfrm>
          <a:prstGeom prst="roundRect">
            <a:avLst>
              <a:gd name="adj" fmla="val 7106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2" y="590550"/>
            <a:ext cx="21907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495300"/>
            <a:ext cx="801350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Schema Refinement &amp; 3NF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128962"/>
            <a:ext cx="3682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1NF — ATOMIC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405187"/>
            <a:ext cx="38670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11042"/>
                </a:solidFill>
                <a:latin typeface="Plus Jakarta Sans"/>
              </a:rPr>
              <a:t>Title vs. Physical 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786187"/>
            <a:ext cx="30416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Separated book metadata (ISBN, title) from physical barcoded units (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accession_no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in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copies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2750" y="3124200"/>
            <a:ext cx="3682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2NF — FULL DEPENDENCY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2750" y="3400425"/>
            <a:ext cx="38670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11042"/>
                </a:solidFill>
                <a:latin typeface="Plus Jakarta Sans"/>
              </a:rPr>
              <a:t>Circulation Decoupling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750" y="3781425"/>
            <a:ext cx="304160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issues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,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reservations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, and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fines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depend solely on surrogate keys (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issue_id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,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reservation_id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9200" y="3119437"/>
            <a:ext cx="3682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3NF — ZERO TRANSITIVE 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9200" y="3395662"/>
            <a:ext cx="382279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11042"/>
                </a:solidFill>
                <a:latin typeface="Plus Jakarta Sans"/>
              </a:rPr>
              <a:t>Role &amp; Lookup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9200" y="3776662"/>
            <a:ext cx="3041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Extracted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members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profile attributes from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users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; isolated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categories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and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publishers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90550"/>
            <a:ext cx="190500" cy="1905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295400"/>
          <a:ext cx="10972798" cy="49149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25575"/>
                <a:gridCol w="2854969"/>
                <a:gridCol w="5892254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Table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10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Primary Key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10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Foreign Keys &amp; Domain Constraints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1042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users / members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user_id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email UNIQUE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,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member_code UNIQUE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,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wallet_balance DEFAULT 1000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categories / publishers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category_id / publisher_id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Referenced by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books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; stores subject icons and publisher cities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books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book_id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isbn UNIQUE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; FK →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category_id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,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publisher_id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copies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copy_id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accession_no UNIQUE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; FK →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book_id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; status IN (available, issued, reserved)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issues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issue_id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FK →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copy_id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,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book_id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,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member_id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;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due_date &gt; issue_date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reservations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reservation_id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FK →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book_id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,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member_id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,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copy_id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; tracks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queue_position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fines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fine_id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FK →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issue_id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,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member_id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;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CHECK (amount &gt;= 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11042"/>
                          </a:solidFill>
                          <a:latin typeface="Plus Jakarta Sans"/>
                        </a:rPr>
                        <a:t>digital_resources / logs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resource_id / log_id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FK →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resource_id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, 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member_id</a:t>
                      </a:r>
                      <a:r>
                        <a:rPr b="0" sz="1350" i="0" u="none">
                          <a:solidFill>
                            <a:srgbClr val="1E1B24"/>
                          </a:solidFill>
                          <a:latin typeface="Plus Jakarta Sans"/>
                        </a:rPr>
                        <a:t>; timestamps member e-resource access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0" y="495300"/>
            <a:ext cx="681335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Normalized 3NF Relational Schema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24050"/>
            <a:ext cx="6606480" cy="3695700"/>
          </a:xfrm>
          <a:prstGeom prst="roundRect">
            <a:avLst>
              <a:gd name="adj" fmla="val 3092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82780" y="1933575"/>
            <a:ext cx="4099619" cy="1123950"/>
          </a:xfrm>
          <a:prstGeom prst="roundRect">
            <a:avLst>
              <a:gd name="adj" fmla="val 10169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82780" y="3209925"/>
            <a:ext cx="4099619" cy="1114425"/>
          </a:xfrm>
          <a:prstGeom prst="roundRect">
            <a:avLst>
              <a:gd name="adj" fmla="val 10256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82780" y="4476750"/>
            <a:ext cx="4099619" cy="1133475"/>
          </a:xfrm>
          <a:prstGeom prst="roundRect">
            <a:avLst>
              <a:gd name="adj" fmla="val 10084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7" y="590550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9200" y="495300"/>
            <a:ext cx="622577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SQL DDL &amp; Integrity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152650"/>
            <a:ext cx="6244530" cy="323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9D5FF"/>
                </a:solidFill>
                <a:latin typeface="Plus Jakarta Sans"/>
              </a:rPr>
              <a:t>CREATE TABLE copies ( copy_id INT AUTO_INCREMENT PRIMARY KEY, book_id INT NOT NULL, accession_no VARCHAR(30) UNIQUE NOT NULL, status ENUM('available','issued','reserved') DEFAULT 'available', FOREIGN KEY (book_id) REFERENCES books(book_id) ); CREATE TABLE issues ( issue_id INT AUTO_INCREMENT PRIMARY KEY, copy_id INT NOT NULL, member_id INT NOT NULL, issue_date DATE NOT NULL, due_date DATE NOT NULL, status ENUM('active','overdue','returned') DEFAULT 'active', CONSTRAINT chk_dates CHECK (due_date &gt; issue_date) 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52650"/>
            <a:ext cx="6244530" cy="323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9D5FF"/>
                </a:solidFill>
                <a:latin typeface="JetBrains Mono"/>
              </a:rPr>
              <a:t>CREATE TABLE copies ( copy_id INT AUTO_INCREMENT PRIMARY KEY, book_id INT NOT NULL, accession_no VARCHAR(30) UNIQUE NOT NULL, status ENUM('available','issued','reserved') DEFAULT 'available', FOREIGN KEY (book_id) REFERENCES books(book_id) ); CREATE TABLE issues ( issue_id INT AUTO_INCREMENT PRIMARY KEY, copy_id INT NOT NULL, member_id INT NOT NULL, issue_date DATE NOT NULL, due_date DATE NOT NULL, status ENUM('active','overdue','returned') DEFAULT 'active', CONSTRAINT chk_dates CHECK (due_date &gt; issue_date) 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3280" y="2124075"/>
            <a:ext cx="45187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11042"/>
                </a:solidFill>
                <a:latin typeface="Plus Jakarta Sans"/>
              </a:rPr>
              <a:t>Accession Uniqueness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3280" y="2419350"/>
            <a:ext cx="3813869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Barcoded physical copies prevented from duplication via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UNIQUE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index.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3280" y="3400425"/>
            <a:ext cx="45187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11042"/>
                </a:solidFill>
                <a:latin typeface="Plus Jakarta Sans"/>
              </a:rPr>
              <a:t>Deletion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3280" y="3695700"/>
            <a:ext cx="381386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Foreign keys block deleting books with active issues or reservations.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3280" y="4667250"/>
            <a:ext cx="45187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11042"/>
                </a:solidFill>
                <a:latin typeface="Plus Jakarta Sans"/>
              </a:rPr>
              <a:t>Domain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3280" y="4962525"/>
            <a:ext cx="38138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A47"/>
                </a:solidFill>
                <a:latin typeface="Plus Jakarta Sans"/>
              </a:rPr>
              <a:t>Strict state transitions enforced via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ENUM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and date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CHECK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constraints.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152900"/>
            <a:ext cx="10972800" cy="695325"/>
          </a:xfrm>
          <a:prstGeom prst="roundRect">
            <a:avLst>
              <a:gd name="adj" fmla="val 16438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7" y="590550"/>
            <a:ext cx="238125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495300"/>
            <a:ext cx="695086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Enforced Circulation Business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38125" y="4381500"/>
            <a:ext cx="126682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11042"/>
                </a:solidFill>
                <a:latin typeface="Plus Jakarta Sans"/>
              </a:rPr>
              <a:t>All rules are validated both in the frontend SPA and at the Python Flask / MySQL transaction level.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437" y="2733675"/>
            <a:ext cx="315515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311042"/>
                </a:solidFill>
                <a:latin typeface="Plus Jakarta Sans"/>
              </a:rPr>
              <a:t>3 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437" y="3571875"/>
            <a:ext cx="31551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B6375"/>
                </a:solidFill>
                <a:latin typeface="Plus Jakarta Sans"/>
              </a:rPr>
              <a:t>Max Active Loans / 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8031" y="2733675"/>
            <a:ext cx="3107531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lus Jakarta Sans"/>
              </a:rPr>
              <a:t>14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8031" y="3571875"/>
            <a:ext cx="31075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B6375"/>
                </a:solidFill>
                <a:latin typeface="Plus Jakarta Sans"/>
              </a:rPr>
              <a:t>Default Borrowing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8381" y="2733675"/>
            <a:ext cx="3131343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311042"/>
                </a:solidFill>
                <a:latin typeface="Plus Jakarta Sans"/>
              </a:rPr>
              <a:t>₹2 /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8381" y="3571875"/>
            <a:ext cx="313134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B6375"/>
                </a:solidFill>
                <a:latin typeface="Plus Jakarta Sans"/>
              </a:rPr>
              <a:t>Automated Overdue Fine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9453" y="2733675"/>
            <a:ext cx="2738437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lus Jakarta Sans"/>
              </a:rPr>
              <a:t>₹1,000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9453" y="3571875"/>
            <a:ext cx="2738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B6375"/>
                </a:solidFill>
                <a:latin typeface="Plus Jakarta Sans"/>
              </a:rPr>
              <a:t>Starting Member Wallet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590550"/>
            <a:ext cx="1905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495300"/>
            <a:ext cx="1060132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Database Seed Population (26 Copies Across 10 Titles)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2712"/>
            <a:ext cx="5372100" cy="2238375"/>
          </a:xfrm>
          <a:prstGeom prst="roundRect">
            <a:avLst>
              <a:gd name="adj" fmla="val 5106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738437"/>
            <a:ext cx="5372100" cy="2066925"/>
          </a:xfrm>
          <a:prstGeom prst="roundRect">
            <a:avLst>
              <a:gd name="adj" fmla="val 5529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590550"/>
            <a:ext cx="17145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200" y="495300"/>
            <a:ext cx="807600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Operational SQL Queries — Joins &amp;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2862262"/>
            <a:ext cx="5048250" cy="1819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D5FF"/>
                </a:solidFill>
                <a:latin typeface="Plus Jakarta Sans"/>
              </a:rPr>
              <a:t>SELECT b.book_id, b.title, c.category_name, COUNT(CASE WHEN cp.status='available' THEN 1 END) AS available_copies, COUNT(cp.copy_id) AS total_copies FROM books b LEFT JOIN categories c ON b.category_id=c.category_id LEFT JOIN copies cp ON b.book_id=cp.book_id GROUP BY b.book_id ORDER BY b.title;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850" y="2947987"/>
            <a:ext cx="5048250" cy="1647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D5FF"/>
                </a:solidFill>
                <a:latin typeface="Plus Jakarta Sans"/>
              </a:rPr>
              <a:t>SELECT i.issue_id, b.title, u.full_name, DATEDIFF(CURDATE(), i.due_date) AS days_late, DATEDIFF(CURDATE(), i.due_date) * 2 AS fine_est FROM issues i JOIN books b ON i.book_id = b.book_id JOIN users u ON i.member_id = u.user_id WHERE i.status = 'overdue' ORDER BY days_late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862262"/>
            <a:ext cx="6191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4A72C"/>
                </a:solidFill>
                <a:latin typeface="Plus Jakarta Sans"/>
              </a:rPr>
              <a:t>1. Real-Time Copy Availability 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138487"/>
            <a:ext cx="5048250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9D5FF"/>
                </a:solidFill>
                <a:latin typeface="JetBrains Mono"/>
              </a:rPr>
              <a:t>SELECT b.book_id, b.title, c.category_name, COUNT(CASE WHEN cp.status='available' THEN 1 END) AS available_copies, COUNT(cp.copy_id) AS total_copies FROM books b LEFT JOIN categories c ON b.category_id=c.category_id LEFT JOIN copies cp ON b.book_id=cp.book_id GROUP BY b.book_id ORDER BY b.title;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850" y="2947987"/>
            <a:ext cx="5772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4A72C"/>
                </a:solidFill>
                <a:latin typeface="Plus Jakarta Sans"/>
              </a:rPr>
              <a:t>2. Dynamic Overdue &amp; Fine Estimation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3224212"/>
            <a:ext cx="50482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9D5FF"/>
                </a:solidFill>
                <a:latin typeface="JetBrains Mono"/>
              </a:rPr>
              <a:t>SELECT i.issue_id, b.title, u.full_name, DATEDIFF(CURDATE(), i.due_date) AS days_late, DATEDIFF(CURDATE(), i.due_date) * 2 AS fine_est FROM issues i JOIN books b ON i.book_id = b.book_id JOIN users u ON i.member_id = u.user_id WHERE i.status = 'overdue' ORDER BY days_late DESC;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5125"/>
            <a:ext cx="2364581" cy="1771650"/>
          </a:xfrm>
          <a:prstGeom prst="roundRect">
            <a:avLst>
              <a:gd name="adj" fmla="val 645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9006" y="2795587"/>
            <a:ext cx="2364581" cy="1990725"/>
          </a:xfrm>
          <a:prstGeom prst="roundRect">
            <a:avLst>
              <a:gd name="adj" fmla="val 574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48412" y="2905125"/>
            <a:ext cx="2364581" cy="1771650"/>
          </a:xfrm>
          <a:prstGeom prst="roundRect">
            <a:avLst>
              <a:gd name="adj" fmla="val 645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17818" y="2905125"/>
            <a:ext cx="2364581" cy="1771650"/>
          </a:xfrm>
          <a:prstGeom prst="roundRect">
            <a:avLst>
              <a:gd name="adj" fmla="val 6451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82340" y="31337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11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51746" y="3024187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11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21153" y="31337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11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90559" y="31337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581" y="3676650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987" y="3676650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5393" y="3676650"/>
            <a:ext cx="200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90550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19200" y="495300"/>
            <a:ext cx="817602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Automated Reservation Queue Fulfillment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9465" y="3133725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171" y="3686175"/>
            <a:ext cx="2503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11042"/>
                </a:solidFill>
                <a:latin typeface="Plus Jakarta Sans"/>
              </a:rPr>
              <a:t>Return Logged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777" y="4000500"/>
            <a:ext cx="2384226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F3A47"/>
                </a:solidFill>
                <a:latin typeface="Plus Jakarta Sans"/>
              </a:rPr>
              <a:t>Issue marked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returned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; copy freed.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8871" y="3024187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9577" y="3576637"/>
            <a:ext cx="2503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11042"/>
                </a:solidFill>
                <a:latin typeface="Plus Jakarta Sans"/>
              </a:rPr>
              <a:t>Queue Polled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9183" y="3890962"/>
            <a:ext cx="2384226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F3A47"/>
                </a:solidFill>
                <a:latin typeface="Plus Jakarta Sans"/>
              </a:rPr>
              <a:t>Finds lowest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queue_position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for book.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278" y="3133725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984" y="3686175"/>
            <a:ext cx="2503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11042"/>
                </a:solidFill>
                <a:latin typeface="Plus Jakarta Sans"/>
              </a:rPr>
              <a:t>Copy Locked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8589" y="4000500"/>
            <a:ext cx="2384226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F3A47"/>
                </a:solidFill>
                <a:latin typeface="Plus Jakarta Sans"/>
              </a:rPr>
              <a:t>Copy status updated to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reserved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7684" y="3133725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311042"/>
                </a:solidFill>
                <a:latin typeface="Plus Jakarta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8390" y="3686175"/>
            <a:ext cx="2503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11042"/>
                </a:solidFill>
                <a:latin typeface="Plus Jakarta Sans"/>
              </a:rPr>
              <a:t>Ready Alert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7996" y="4000500"/>
            <a:ext cx="2384226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F3A47"/>
                </a:solidFill>
                <a:latin typeface="Plus Jakarta Sans"/>
              </a:rPr>
              <a:t>Member reservation set to 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ready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76500"/>
            <a:ext cx="5334000" cy="2628900"/>
          </a:xfrm>
          <a:prstGeom prst="roundRect">
            <a:avLst>
              <a:gd name="adj" fmla="val 5072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476500"/>
            <a:ext cx="5334000" cy="2628900"/>
          </a:xfrm>
          <a:prstGeom prst="roundRect">
            <a:avLst>
              <a:gd name="adj" fmla="val 5072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2" y="590550"/>
            <a:ext cx="2190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200" y="495300"/>
            <a:ext cx="848856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Working Prototype — LibraryOS Dual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743200"/>
            <a:ext cx="63007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11042"/>
                </a:solidFill>
                <a:latin typeface="Plus Jakarta Sans"/>
              </a:rPr>
              <a:t>Librarian / Admin Portal (8 Views)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2743200"/>
            <a:ext cx="56769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Student / Member Portal (7 Views)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181350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Live KPI Dashboard: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8 real-time counters &amp; activity feed.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514725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Catalogue &amp; Copy Manager: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Add ISBNs and barcoded copies.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67175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Issue &amp; Return Desk: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Real-time overdue fine preview box.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40055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Reservation &amp; Fine Control: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1-click queue issue &amp; fee collection.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181350"/>
            <a:ext cx="56769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Hero Catalogue Search: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Filter by subject icon, title, or ISBN.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514725"/>
            <a:ext cx="56769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Queue Reservation: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Instant reserve or waitlist placement.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384810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Digital Library Hub: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Logs access to IEEE, JSTOR, SpringerLink.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440055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Personal Loans &amp; Fines: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Track due dates and outstanding dues.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43362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86075"/>
            <a:ext cx="1974800" cy="762000"/>
          </a:xfrm>
          <a:prstGeom prst="roundRect">
            <a:avLst>
              <a:gd name="adj" fmla="val 12500"/>
            </a:avLst>
          </a:prstGeom>
          <a:solidFill>
            <a:srgbClr val="F0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17750" y="2886075"/>
            <a:ext cx="1974800" cy="762000"/>
          </a:xfrm>
          <a:prstGeom prst="roundRect">
            <a:avLst>
              <a:gd name="adj" fmla="val 12500"/>
            </a:avLst>
          </a:prstGeom>
          <a:solidFill>
            <a:srgbClr val="F0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25900" y="2719387"/>
            <a:ext cx="2540496" cy="1095375"/>
          </a:xfrm>
          <a:prstGeom prst="roundRect">
            <a:avLst>
              <a:gd name="adj" fmla="val 8695"/>
            </a:avLst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9746" y="2786062"/>
            <a:ext cx="1974800" cy="962025"/>
          </a:xfrm>
          <a:prstGeom prst="roundRect">
            <a:avLst>
              <a:gd name="adj" fmla="val 9900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7897" y="2786062"/>
            <a:ext cx="1974800" cy="962025"/>
          </a:xfrm>
          <a:prstGeom prst="roundRect">
            <a:avLst>
              <a:gd name="adj" fmla="val 9900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590550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9200" y="495300"/>
            <a:ext cx="865108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Project Planning — Timeline (Week 11 Status)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233862"/>
            <a:ext cx="10687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F3A47"/>
                </a:solidFill>
                <a:latin typeface="Plus Jakarta Sans"/>
              </a:rPr>
              <a:t>Milestone Progress:</a:t>
            </a:r>
            <a:r>
              <a:rPr b="0" sz="1350" i="0" u="none">
                <a:solidFill>
                  <a:srgbClr val="3F3A47"/>
                </a:solidFill>
                <a:latin typeface="Plus Jakarta Sans"/>
              </a:rPr>
              <a:t> Normalized 3NF schema, MySQL DDL scripts, operational join queries, and interactive LibraryOS UI prototype completed on schedule.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062" y="3057525"/>
            <a:ext cx="2039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11042"/>
                </a:solidFill>
                <a:latin typeface="Plus Jakarta Sans"/>
              </a:rPr>
              <a:t>Wk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062" y="3276600"/>
            <a:ext cx="2039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F3A47"/>
                </a:solidFill>
                <a:latin typeface="Plus Jakarta Sans"/>
              </a:rPr>
              <a:t>Assessments Begin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5212" y="3057525"/>
            <a:ext cx="2039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11042"/>
                </a:solidFill>
                <a:latin typeface="Plus Jakarta Sans"/>
              </a:rPr>
              <a:t>Wk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5212" y="3276600"/>
            <a:ext cx="2039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F3A47"/>
                </a:solidFill>
                <a:latin typeface="Plus Jakarta Sans"/>
              </a:rPr>
              <a:t>Review 1 (Completed)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0276" y="2928937"/>
            <a:ext cx="265174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11042"/>
                </a:solidFill>
                <a:latin typeface="Plus Jakarta Sans"/>
              </a:rPr>
              <a:t>Wk 11 — YOU ARE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0276" y="3167062"/>
            <a:ext cx="265174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11042"/>
                </a:solidFill>
                <a:latin typeface="Plus Jakarta Sans"/>
              </a:rPr>
              <a:t>Review 2: 3NF, DDL &amp;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7209" y="2957512"/>
            <a:ext cx="2039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B6375"/>
                </a:solidFill>
                <a:latin typeface="Plus Jakarta Sans"/>
              </a:rPr>
              <a:t>Wk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7209" y="3176587"/>
            <a:ext cx="20398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B6375"/>
                </a:solidFill>
                <a:latin typeface="Plus Jakarta Sans"/>
              </a:rPr>
              <a:t>Assessments Conclude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5359" y="2957512"/>
            <a:ext cx="2039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B6375"/>
                </a:solidFill>
                <a:latin typeface="Plus Jakarta Sans"/>
              </a:rPr>
              <a:t>Wk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5359" y="3176587"/>
            <a:ext cx="20398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B6375"/>
                </a:solidFill>
                <a:latin typeface="Plus Jakarta Sans"/>
              </a:rPr>
              <a:t>Review 3 + MOOC Final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66950"/>
            <a:ext cx="5334000" cy="3048000"/>
          </a:xfrm>
          <a:prstGeom prst="roundRect">
            <a:avLst>
              <a:gd name="adj" fmla="val 4375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266950"/>
            <a:ext cx="5334000" cy="3048000"/>
          </a:xfrm>
          <a:prstGeom prst="roundRect">
            <a:avLst>
              <a:gd name="adj" fmla="val 4375"/>
            </a:avLst>
          </a:prstGeom>
          <a:solidFill>
            <a:srgbClr val="F8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9055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200" y="495300"/>
            <a:ext cx="452556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11042"/>
                </a:solidFill>
                <a:latin typeface="Plus Jakarta Sans"/>
              </a:rPr>
              <a:t>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533650"/>
            <a:ext cx="63007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11042"/>
                </a:solidFill>
                <a:latin typeface="Plus Jakarta Sans"/>
              </a:rPr>
              <a:t>Covered in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2533650"/>
            <a:ext cx="56769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Coming in Review 3 (Final)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95275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3NF Normalization: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Eliminated partial &amp; transitive dependencies.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50520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SQL DDL Scripts: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Enforced PK, FK, UNIQUE, and CHECK rules.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5765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Sample Data &amp; Queries: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26 copies populated with live SQL joins.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61010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Working Prototype: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LibraryOS SPA with Admin &amp; Member portals.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295275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Full-Stack Flask API: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25+ REST endpoints with MySQL transactions.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50520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Digital Wallet Settlement: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Instant fine payment with SQL rollback.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405765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4-Tab Analytics Suite: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Overdues, popular books, fines, access logs.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461010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1B24"/>
                </a:solidFill>
                <a:latin typeface="Plus Jakarta Sans"/>
              </a:rPr>
              <a:t>Indexing &amp; Validation:</a:t>
            </a:r>
            <a:r>
              <a:rPr b="0" sz="1350" i="0" u="none">
                <a:solidFill>
                  <a:srgbClr val="1E1B24"/>
                </a:solidFill>
                <a:latin typeface="Plus Jakarta Sans"/>
              </a:rPr>
              <a:t> Systematic testing and final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1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200525"/>
            <a:ext cx="609600" cy="38100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1857375"/>
            <a:ext cx="800100" cy="800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066925"/>
            <a:ext cx="333375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58282" y="2886075"/>
            <a:ext cx="3475434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lus Jakarta Sa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6406" y="3667125"/>
            <a:ext cx="87391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D8B4FE"/>
                </a:solidFill>
                <a:latin typeface="Plus Jakarta Sans"/>
              </a:rPr>
              <a:t>Review 2 — Library Circulation &amp; Digital Resource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3546" y="4505325"/>
            <a:ext cx="49649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Himesh Sarvan S  ·  25WU0102099  ·  B.Tech AIML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5546" y="4800600"/>
            <a:ext cx="3440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D4A72C"/>
                </a:solidFill>
                <a:latin typeface="Plus Jakarta Sans"/>
              </a:rPr>
              <a:t>Questions &amp; Prototype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