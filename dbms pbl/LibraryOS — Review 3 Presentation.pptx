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JetBrains Mono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a74b936d-8eaa-4c31-910f-a98af53a0d9b.fntdata" /><ns0:Relationship Id="rIdFont21" Type="http://schemas.openxmlformats.org/officeDocument/2006/relationships/font" Target="fonts/8633b2d6-f9e5-4e5a-af8e-5ae79c31e556.fntdata" /><ns0:Relationship Id="rIdFont22" Type="http://schemas.openxmlformats.org/officeDocument/2006/relationships/font" Target="fonts/36b87979-7ae3-4767-a4cb-b9472e8ef36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1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710112"/>
            <a:ext cx="685800" cy="38100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85912"/>
            <a:ext cx="723900" cy="72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785937"/>
            <a:ext cx="36195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576512"/>
            <a:ext cx="9901237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FFFFF"/>
                </a:solidFill>
                <a:latin typeface="Plus Jakarta Sans"/>
              </a:rPr>
              <a:t>Library Circulation &amp; Digital Resource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29062"/>
            <a:ext cx="7905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D8B4FE"/>
                </a:solidFill>
                <a:latin typeface="Plus Jakarta Sans"/>
              </a:rPr>
              <a:t>Python Flask + MySQL Backend · Atomic Wallet Transactions · 4-Tab Reporting Suite · System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053012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Himesh Sarvan S  |  25WU0102099  |  B.Tech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100" y="1728787"/>
            <a:ext cx="6179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4A72C"/>
                </a:solidFill>
                <a:latin typeface="Plus Jakarta Sans"/>
              </a:rPr>
              <a:t>DBMS PROJECT-BASED LEARNING · PROJECT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1947862"/>
            <a:ext cx="6179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9D5FF"/>
                </a:solidFill>
                <a:latin typeface="Plus Jakarta Sans"/>
              </a:rPr>
              <a:t>Review 3 — Full-Stack Implementation, Testing &amp; Final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0425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82075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495300"/>
            <a:ext cx="153769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01 · 3-Tier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83845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SPA Frontend, Flask REST API, MySQL 8.0 Engine.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02 · REST API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9975" y="283845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25+ routes across Auth, Catalogue, Issues, Fines.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03 · ACID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8450"/>
            <a:ext cx="22764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Atomic commits and rollbacks for circulation &amp; wallet.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1625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04 · Security &amp; Indexing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1625" y="2838450"/>
            <a:ext cx="22764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Werkzeug hashes, RBAC decorators, B-Tree indexes.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05 · 4-Tab Reporting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434340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Overdues, Popular Titles, Fines, Digital Access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9975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06 · Digital Access Logger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9975" y="4343400"/>
            <a:ext cx="22764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Tracking JSTOR, IEEE Xplore, SpringerLink usage.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07 · Systematic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4340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Constraint verification and edge-case test matrix.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625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08 · Final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1625" y="434340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Week 16 completion and future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3200400" cy="1828800"/>
          </a:xfrm>
          <a:prstGeom prst="roundRect">
            <a:avLst>
              <a:gd name="adj" fmla="val 729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95800" y="2876550"/>
            <a:ext cx="3200400" cy="1828800"/>
          </a:xfrm>
          <a:prstGeom prst="roundRect">
            <a:avLst>
              <a:gd name="adj" fmla="val 729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82000" y="2881312"/>
            <a:ext cx="3200400" cy="1819275"/>
          </a:xfrm>
          <a:prstGeom prst="roundRect">
            <a:avLst>
              <a:gd name="adj" fmla="val 7329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6766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36766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7" y="590550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9200" y="495300"/>
            <a:ext cx="752594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Full-Stack 3-Tier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143250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TIER 1 · 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390900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Responsive SPA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771900"/>
            <a:ext cx="2762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HTML5, CSS3 Dark Theme, Vanilla JS router (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app.js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) with dynamic DOM 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0" y="3143250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TIER 2 · APPLICATION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3390900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Python Flask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0" y="3771900"/>
            <a:ext cx="2762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server.py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handling RBAC sessions, overdue triggers, and JSON serialization.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8700" y="314801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TIER 3 · 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8700" y="3395662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MySQL 8.0 Relational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8700" y="3776662"/>
            <a:ext cx="27622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11 normalized 3NF tables with InnoDB ACID transactions and foreign key locks.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19225"/>
          <a:ext cx="10972798" cy="46672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83593"/>
                <a:gridCol w="3347293"/>
                <a:gridCol w="5541912"/>
              </a:tblGrid>
              <a:tr h="58340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HTTP Method &amp; Route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Database Operation &amp; Business Logic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Authentication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POST /api/login, /api/register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Verifies Werkzeug hash; creates member with ₹1,000 wallet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Catalogue &amp; Copies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GET/POST/DELETE /api/books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Multi-table search join; blocks deletion if copies are issued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Issue Processing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POST /api/issues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Checks active status &amp; &lt;3 loans; sets copy status to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issued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Return &amp; Auto-Queue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PUT /api/issues//return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Computes ₹2/day fine; triggers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_fulfill_next_reservation()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Reservations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POST /api/reservations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Assigns available copy immediately or increments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queue_position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Wallet Fine Payment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PUT /api/fines//pay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Deducts fine from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wallet_balance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 and marks fine paid atomically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8340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Analytics Reports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GET /api/reports/*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Serves overdue list, top 10 borrowed titles, and digital access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495300"/>
            <a:ext cx="738842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Flask REST API Endpoint Specification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5050"/>
            <a:ext cx="6606480" cy="2933700"/>
          </a:xfrm>
          <a:prstGeom prst="roundRect">
            <a:avLst>
              <a:gd name="adj" fmla="val 3896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82780" y="1828800"/>
            <a:ext cx="4099619" cy="1114425"/>
          </a:xfrm>
          <a:prstGeom prst="roundRect">
            <a:avLst>
              <a:gd name="adj" fmla="val 10256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82780" y="3095625"/>
            <a:ext cx="4099619" cy="1343025"/>
          </a:xfrm>
          <a:prstGeom prst="roundRect">
            <a:avLst>
              <a:gd name="adj" fmla="val 8510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82780" y="4591050"/>
            <a:ext cx="4099619" cy="1123950"/>
          </a:xfrm>
          <a:prstGeom prst="roundRect">
            <a:avLst>
              <a:gd name="adj" fmla="val 10169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495300"/>
            <a:ext cx="99012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ACID Transaction Control — Wallet Fine Settlement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33650"/>
            <a:ext cx="624453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9D5FF"/>
                </a:solidFill>
                <a:latin typeface="Plus Jakarta Sans"/>
              </a:rPr>
              <a:t>conn = get_db() cur = conn.cursor() try: cur.execute( "UPDATE members SET wallet_balance = wallet_balance - %s " "WHERE user_id = %s", (amount, uid)) cur.execute( "UPDATE fines SET paid = 1, paid_at = CURDATE() " "WHERE fine_id = %s", (fid,)) conn.commit() except Error as e: conn.rollback() return jsonify({'error': str(e)}),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533650"/>
            <a:ext cx="624453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9D5FF"/>
                </a:solidFill>
                <a:latin typeface="JetBrains Mono"/>
              </a:rPr>
              <a:t>conn = get_db() cur = conn.cursor() try: cur.execute( "UPDATE members SET wallet_balance = wallet_balance - %s " "WHERE user_id = %s", (amount, uid)) cur.execute( "UPDATE fines SET paid = 1, paid_at = CURDATE() " "WHERE fine_id = %s", (fid,)) conn.commit() except Error as e: conn.rollback() return jsonify({'error': str(e)}),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3280" y="2019300"/>
            <a:ext cx="45187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Atomicity (All-or-Nothing)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3280" y="2314575"/>
            <a:ext cx="381386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Wallet deduction and fine status update execute inside a single transaction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3280" y="3286125"/>
            <a:ext cx="45187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Automatic 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3280" y="3581400"/>
            <a:ext cx="381386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Any SQL exception triggers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conn.rollback()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, preventing partial deductions.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280" y="4781550"/>
            <a:ext cx="45187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Copy-Level Locking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3280" y="5076825"/>
            <a:ext cx="3813869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Verifies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status='available'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before commit to prevent double-issuing.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5112"/>
            <a:ext cx="3505200" cy="1971675"/>
          </a:xfrm>
          <a:prstGeom prst="roundRect">
            <a:avLst>
              <a:gd name="adj" fmla="val 676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05112"/>
            <a:ext cx="3505200" cy="1971675"/>
          </a:xfrm>
          <a:prstGeom prst="roundRect">
            <a:avLst>
              <a:gd name="adj" fmla="val 676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9875"/>
            <a:ext cx="3505200" cy="1962150"/>
          </a:xfrm>
          <a:prstGeom prst="roundRect">
            <a:avLst>
              <a:gd name="adj" fmla="val 6796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590550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071812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3071812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3076575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200" y="495300"/>
            <a:ext cx="792599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Indexing, Security &amp; Query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71862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B-Tree Search Indexes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833812"/>
            <a:ext cx="3067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Indexed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isbn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accession_no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member_code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, and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title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for fast catalogue lookups.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471862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Password &amp; Role 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833812"/>
            <a:ext cx="3067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Werkzeug salted password hashes paired with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@login_required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and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@admin_required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decorators.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476625"/>
            <a:ext cx="38481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SQL Injection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838575"/>
            <a:ext cx="3067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100% parameterized cursor queries (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%s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placeholders) across all 25+ API routes.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71737"/>
            <a:ext cx="5372100" cy="1228725"/>
          </a:xfrm>
          <a:prstGeom prst="roundRect">
            <a:avLst>
              <a:gd name="adj" fmla="val 9302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471737"/>
            <a:ext cx="5372100" cy="1228725"/>
          </a:xfrm>
          <a:prstGeom prst="roundRect">
            <a:avLst>
              <a:gd name="adj" fmla="val 9302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90962"/>
            <a:ext cx="5372100" cy="1219200"/>
          </a:xfrm>
          <a:prstGeom prst="roundRect">
            <a:avLst>
              <a:gd name="adj" fmla="val 9375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890962"/>
            <a:ext cx="5372100" cy="1219200"/>
          </a:xfrm>
          <a:prstGeom prst="roundRect">
            <a:avLst>
              <a:gd name="adj" fmla="val 9375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590550"/>
            <a:ext cx="2190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495300"/>
            <a:ext cx="922615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Operational Reporting Suite (4 Live SQL Views)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00337"/>
            <a:ext cx="64508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Tab 1 · Overdue Books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14662"/>
            <a:ext cx="501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Auto-runs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mark_overdue()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and ranks late borrowers by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DATEDIFF(CURDATE(), due_date)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2700337"/>
            <a:ext cx="5753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Tab 2 · Popular Titles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014662"/>
            <a:ext cx="50101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Aggregates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COUNT(i.issue_id)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grouped by book to rank top borrowed textbooks.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19562"/>
            <a:ext cx="64508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Tab 3 · Fine Collection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33887"/>
            <a:ext cx="50101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Tracks collected vs. unpaid fines using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COALESCE(SUM(amount), 0)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summaries.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4119562"/>
            <a:ext cx="5753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Tab 4 · Digital Resource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4433887"/>
            <a:ext cx="50101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Joins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digital_access_logs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with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users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to monitor e-library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43175"/>
            <a:ext cx="5334000" cy="2495550"/>
          </a:xfrm>
          <a:prstGeom prst="roundRect">
            <a:avLst>
              <a:gd name="adj" fmla="val 534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33650"/>
            <a:ext cx="5334000" cy="2514600"/>
          </a:xfrm>
          <a:prstGeom prst="roundRect">
            <a:avLst>
              <a:gd name="adj" fmla="val 530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495300"/>
            <a:ext cx="747593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Digital Resource Portal &amp; Access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809875"/>
            <a:ext cx="63007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Integrated E-Library Repositories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800350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Automated Telemetry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2897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JSTOR &amp; Project MUSE: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Peer-reviewed academic &amp; humanities journals.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8142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IEEE Xplore &amp; ScienceDirect: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Engineering and scientific research databases.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33387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SpringerLink &amp; Khan Academy: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Online textbooks and video courseware.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2194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1-Click Launch: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Member clicks Access on any digital resource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771900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Instant Audit Row: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POST /api/digital-resources//access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logs 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member_id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and timestamp.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3434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Usage Visibility: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Links digital research activity directly to member profiles.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52900"/>
            <a:ext cx="10972800" cy="695325"/>
          </a:xfrm>
          <a:prstGeom prst="roundRect">
            <a:avLst>
              <a:gd name="adj" fmla="val 16438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495300"/>
            <a:ext cx="683835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Full-Stack Implementation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38125" y="4381500"/>
            <a:ext cx="12668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11042"/>
                </a:solidFill>
                <a:latin typeface="Plus Jakarta Sans"/>
              </a:rPr>
              <a:t>Complete end-to-end integration from browser UI events to persistent MySQL 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706" y="2733675"/>
            <a:ext cx="328612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311042"/>
                </a:solidFill>
                <a:latin typeface="Plus Jakarta Sans"/>
              </a:rPr>
              <a:t>15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706" y="3571875"/>
            <a:ext cx="32861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8 Admin + 7 Member 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1806" y="2733675"/>
            <a:ext cx="3238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25+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1806" y="3571875"/>
            <a:ext cx="3238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RESTful Flask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9990" y="2733675"/>
            <a:ext cx="3679031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311042"/>
                </a:solidFill>
                <a:latin typeface="Plus Jakarta Sans"/>
              </a:rPr>
              <a:t>11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9990" y="3571875"/>
            <a:ext cx="36790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3NF Normalized MySQL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7040" y="2733675"/>
            <a:ext cx="315515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7040" y="3571875"/>
            <a:ext cx="3155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Parameterized SQL Queries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990725"/>
          <a:ext cx="10972798" cy="35242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69121"/>
                <a:gridCol w="2997993"/>
                <a:gridCol w="4167336"/>
                <a:gridCol w="838348"/>
              </a:tblGrid>
              <a:tr h="50346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Test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Input /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Expected System Behavior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TC-01: Duplicate ISBN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Add book with existing ISBN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Blocked by UNIQUE constraint (HTTP 409)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TC-02: Loan Limit Cap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Issue 4th book to same member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Rejected: "Member already has 3 active loans"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TC-03: Suspended Member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Issue/Reserve by suspended user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Blocked with HTTP 400 status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TC-04: Overdue Fine Calc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Return copy 6 days past due 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Auto-creates ₹12 fine record (6 × ₹2)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TC-05: Auto-Queue Promotion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Return book with pending queue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Copy set to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reserved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#1 member set to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ready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346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TC-06: Active Delete 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Delete book with issued copy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Blocked to preserve referential history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495300"/>
            <a:ext cx="751343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Systematic Testing &amp; Validation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9338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86075"/>
            <a:ext cx="1974800" cy="762000"/>
          </a:xfrm>
          <a:prstGeom prst="roundRect">
            <a:avLst>
              <a:gd name="adj" fmla="val 12500"/>
            </a:avLst>
          </a:prstGeom>
          <a:solidFill>
            <a:srgbClr val="F0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17750" y="2886075"/>
            <a:ext cx="1974800" cy="762000"/>
          </a:xfrm>
          <a:prstGeom prst="roundRect">
            <a:avLst>
              <a:gd name="adj" fmla="val 12500"/>
            </a:avLst>
          </a:prstGeom>
          <a:solidFill>
            <a:srgbClr val="F0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25900" y="2886075"/>
            <a:ext cx="1974800" cy="762000"/>
          </a:xfrm>
          <a:prstGeom prst="roundRect">
            <a:avLst>
              <a:gd name="adj" fmla="val 12500"/>
            </a:avLst>
          </a:prstGeom>
          <a:solidFill>
            <a:srgbClr val="F0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34051" y="2886075"/>
            <a:ext cx="1974800" cy="762000"/>
          </a:xfrm>
          <a:prstGeom prst="roundRect">
            <a:avLst>
              <a:gd name="adj" fmla="val 12500"/>
            </a:avLst>
          </a:prstGeom>
          <a:solidFill>
            <a:srgbClr val="F0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42201" y="2828925"/>
            <a:ext cx="2540496" cy="876300"/>
          </a:xfrm>
          <a:prstGeom prst="roundRect">
            <a:avLst>
              <a:gd name="adj" fmla="val 10869"/>
            </a:avLst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590550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200" y="495300"/>
            <a:ext cx="871358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Project Timeline — Week 16 Final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124325"/>
            <a:ext cx="1068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F3A47"/>
                </a:solidFill>
                <a:latin typeface="Plus Jakarta Sans"/>
              </a:rPr>
              <a:t>Deliverables Completed: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Full 3NF MySQL database, Python Flask REST API, dual-role LibraryOS SPA, systematic test verification, and course assessments.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062" y="3057525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11042"/>
                </a:solidFill>
                <a:latin typeface="Plus Jakarta Sans"/>
              </a:rPr>
              <a:t>Wk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062" y="3276600"/>
            <a:ext cx="203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F3A47"/>
                </a:solidFill>
                <a:latin typeface="Plus Jakarta Sans"/>
              </a:rPr>
              <a:t>Review 1 (SRS &amp; 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5212" y="3057525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11042"/>
                </a:solidFill>
                <a:latin typeface="Plus Jakarta Sans"/>
              </a:rPr>
              <a:t>Wk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212" y="3276600"/>
            <a:ext cx="203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F3A47"/>
                </a:solidFill>
                <a:latin typeface="Plus Jakarta Sans"/>
              </a:rPr>
              <a:t>Review 2 (3NF &amp; 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3363" y="3057525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11042"/>
                </a:solidFill>
                <a:latin typeface="Plus Jakarta Sans"/>
              </a:rPr>
              <a:t>Wk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3363" y="3276600"/>
            <a:ext cx="203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F3A47"/>
                </a:solidFill>
                <a:latin typeface="Plus Jakarta Sans"/>
              </a:rPr>
              <a:t>Assessments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1513" y="3057525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11042"/>
                </a:solidFill>
                <a:latin typeface="Plus Jakarta Sans"/>
              </a:rPr>
              <a:t>Wk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1513" y="3276600"/>
            <a:ext cx="203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F3A47"/>
                </a:solidFill>
                <a:latin typeface="Plus Jakarta Sans"/>
              </a:rPr>
              <a:t>Report &amp; Certificates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6577" y="3038475"/>
            <a:ext cx="26517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11042"/>
                </a:solidFill>
                <a:latin typeface="Plus Jakarta Sans"/>
              </a:rPr>
              <a:t>Wk 16 — 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6577" y="3276600"/>
            <a:ext cx="26517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11042"/>
                </a:solidFill>
                <a:latin typeface="Plus Jakarta Sans"/>
              </a:rPr>
              <a:t>Review 3 + MOOC 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43175"/>
            <a:ext cx="5334000" cy="2495550"/>
          </a:xfrm>
          <a:prstGeom prst="roundRect">
            <a:avLst>
              <a:gd name="adj" fmla="val 534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43175"/>
            <a:ext cx="5334000" cy="2495550"/>
          </a:xfrm>
          <a:prstGeom prst="roundRect">
            <a:avLst>
              <a:gd name="adj" fmla="val 534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" y="590550"/>
            <a:ext cx="1428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495300"/>
            <a:ext cx="693836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Conclusion &amp; 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809875"/>
            <a:ext cx="63007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Final Project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809875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2897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Unified 3NF Database: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Connects physical copies, queues, fines, and digital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8142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Zero Manual Errors: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Automated ₹2/day fine calculation and 3-book loan cap.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33387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Production-Ready Stack: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Flask REST API + MySQL transactions + responsive SPA.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22897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Barcode / RFID Scanners: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Hardware check-in for accession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78142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Automated Email/SMS Alerts: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Due-date reminders and ready notifications.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33387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UPI Wallet Top-Up: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Payment gateway integration for student wallets.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1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200525"/>
            <a:ext cx="609600" cy="38100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1857375"/>
            <a:ext cx="800100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066925"/>
            <a:ext cx="333375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58282" y="2886075"/>
            <a:ext cx="3475434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6406" y="3667125"/>
            <a:ext cx="8739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8B4FE"/>
                </a:solidFill>
                <a:latin typeface="Plus Jakarta Sans"/>
              </a:rPr>
              <a:t>Review 3 — Library Circulation &amp; Digital Resource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3546" y="4505325"/>
            <a:ext cx="4964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Himesh Sarvan S  ·  25WU0102099  ·  B.Tech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7187" y="4800600"/>
            <a:ext cx="3857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D4A72C"/>
                </a:solidFill>
                <a:latin typeface="Plus Jakarta Sans"/>
              </a:rPr>
              <a:t>Questions &amp; Live Full-Stack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